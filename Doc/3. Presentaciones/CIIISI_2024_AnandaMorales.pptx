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3" r:id="rId5"/>
    <p:sldId id="264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AAF2EC-4F9F-4FE9-8A77-33C65AD07D41}" type="doc">
      <dgm:prSet loTypeId="urn:microsoft.com/office/officeart/2005/8/layout/hList1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F9F97F43-47C7-47D7-96B0-28472F58DE77}">
      <dgm:prSet phldrT="[Text]" custT="1"/>
      <dgm:spPr/>
      <dgm:t>
        <a:bodyPr/>
        <a:lstStyle/>
        <a:p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BHCVRP</a:t>
          </a:r>
          <a:endParaRPr lang="en-US" sz="2400" dirty="0">
            <a:latin typeface="Yu Gothic Medium" panose="020B0500000000000000" pitchFamily="34" charset="-128"/>
            <a:ea typeface="Yu Gothic Medium" panose="020B0500000000000000" pitchFamily="34" charset="-128"/>
          </a:endParaRPr>
        </a:p>
      </dgm:t>
    </dgm:pt>
    <dgm:pt modelId="{555CC0E2-BD91-4EB5-8152-AA305643578B}" type="parTrans" cxnId="{75B0C3DE-6EB6-4617-B678-FA6E165F90E4}">
      <dgm:prSet/>
      <dgm:spPr/>
      <dgm:t>
        <a:bodyPr/>
        <a:lstStyle/>
        <a:p>
          <a:endParaRPr lang="en-US"/>
        </a:p>
      </dgm:t>
    </dgm:pt>
    <dgm:pt modelId="{D08360C0-2DF9-4D05-ACA3-43A9524E499F}" type="sibTrans" cxnId="{75B0C3DE-6EB6-4617-B678-FA6E165F90E4}">
      <dgm:prSet/>
      <dgm:spPr/>
      <dgm:t>
        <a:bodyPr/>
        <a:lstStyle/>
        <a:p>
          <a:endParaRPr lang="en-US"/>
        </a:p>
      </dgm:t>
    </dgm:pt>
    <dgm:pt modelId="{1AEBE0C9-CF45-46DB-A35B-1CE7A4156227}">
      <dgm:prSet phldrT="[Text]" custT="1"/>
      <dgm:spPr/>
      <dgm:t>
        <a:bodyPr/>
        <a:lstStyle/>
        <a:p>
          <a:r>
            <a:rPr lang="en-US" sz="24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Resuelve</a:t>
          </a:r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</a:t>
          </a:r>
          <a:r>
            <a:rPr lang="en-US" sz="24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cuatro</a:t>
          </a:r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</a:t>
          </a:r>
          <a:r>
            <a:rPr lang="en-US" sz="24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variantes</a:t>
          </a:r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VRP.</a:t>
          </a:r>
          <a:endParaRPr lang="en-US" sz="2400" dirty="0">
            <a:latin typeface="Yu Gothic Medium" panose="020B0500000000000000" pitchFamily="34" charset="-128"/>
            <a:ea typeface="Yu Gothic Medium" panose="020B0500000000000000" pitchFamily="34" charset="-128"/>
          </a:endParaRPr>
        </a:p>
      </dgm:t>
    </dgm:pt>
    <dgm:pt modelId="{6E48DFD0-EF9F-4E6D-A27B-97AC6C123C92}" type="parTrans" cxnId="{8625C1D2-13DD-43A6-ADF9-7C17D88EFC9F}">
      <dgm:prSet/>
      <dgm:spPr/>
      <dgm:t>
        <a:bodyPr/>
        <a:lstStyle/>
        <a:p>
          <a:endParaRPr lang="en-US"/>
        </a:p>
      </dgm:t>
    </dgm:pt>
    <dgm:pt modelId="{E9BA7B35-E867-4993-B139-51AB0F64424B}" type="sibTrans" cxnId="{8625C1D2-13DD-43A6-ADF9-7C17D88EFC9F}">
      <dgm:prSet/>
      <dgm:spPr/>
      <dgm:t>
        <a:bodyPr/>
        <a:lstStyle/>
        <a:p>
          <a:endParaRPr lang="en-US"/>
        </a:p>
      </dgm:t>
    </dgm:pt>
    <dgm:pt modelId="{9D17DD19-06F1-4B9E-9B4C-4B9CE5764F75}">
      <dgm:prSet phldrT="[Text]" custT="1"/>
      <dgm:spPr/>
      <dgm:t>
        <a:bodyPr/>
        <a:lstStyle/>
        <a:p>
          <a:r>
            <a:rPr lang="en-US" sz="24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Emplea</a:t>
          </a:r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</a:t>
          </a:r>
          <a:r>
            <a:rPr lang="en-US" sz="24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nueve</a:t>
          </a:r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</a:t>
          </a:r>
          <a:r>
            <a:rPr lang="en-US" sz="24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heurísticas</a:t>
          </a:r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de </a:t>
          </a:r>
          <a:r>
            <a:rPr lang="en-US" sz="24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construcción</a:t>
          </a:r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.</a:t>
          </a:r>
          <a:endParaRPr lang="en-US" sz="2400" dirty="0">
            <a:latin typeface="Yu Gothic Medium" panose="020B0500000000000000" pitchFamily="34" charset="-128"/>
            <a:ea typeface="Yu Gothic Medium" panose="020B0500000000000000" pitchFamily="34" charset="-128"/>
          </a:endParaRPr>
        </a:p>
      </dgm:t>
    </dgm:pt>
    <dgm:pt modelId="{8CFF6829-4774-41FD-BB14-F3227182B5D7}" type="parTrans" cxnId="{D2F0E7AE-9BA8-40B7-B6A1-1BE580A0B1C5}">
      <dgm:prSet/>
      <dgm:spPr/>
      <dgm:t>
        <a:bodyPr/>
        <a:lstStyle/>
        <a:p>
          <a:endParaRPr lang="en-US"/>
        </a:p>
      </dgm:t>
    </dgm:pt>
    <dgm:pt modelId="{22B8DA65-D118-485B-8249-3E9A48B6653B}" type="sibTrans" cxnId="{D2F0E7AE-9BA8-40B7-B6A1-1BE580A0B1C5}">
      <dgm:prSet/>
      <dgm:spPr/>
      <dgm:t>
        <a:bodyPr/>
        <a:lstStyle/>
        <a:p>
          <a:endParaRPr lang="en-US"/>
        </a:p>
      </dgm:t>
    </dgm:pt>
    <dgm:pt modelId="{D340E044-66D8-4249-A6BA-EC622CDCF43F}">
      <dgm:prSet phldrT="[Text]" custT="1"/>
      <dgm:spPr/>
      <dgm:t>
        <a:bodyPr/>
        <a:lstStyle/>
        <a:p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OR-Tools</a:t>
          </a:r>
          <a:endParaRPr lang="en-US" sz="2400" dirty="0">
            <a:latin typeface="Yu Gothic Medium" panose="020B0500000000000000" pitchFamily="34" charset="-128"/>
            <a:ea typeface="Yu Gothic Medium" panose="020B0500000000000000" pitchFamily="34" charset="-128"/>
          </a:endParaRPr>
        </a:p>
      </dgm:t>
    </dgm:pt>
    <dgm:pt modelId="{A3DD71C6-7216-474F-99E6-A0437B43D25B}" type="parTrans" cxnId="{FEA38D54-3197-4E93-BDD7-45A8F8D8B744}">
      <dgm:prSet/>
      <dgm:spPr/>
      <dgm:t>
        <a:bodyPr/>
        <a:lstStyle/>
        <a:p>
          <a:endParaRPr lang="en-US"/>
        </a:p>
      </dgm:t>
    </dgm:pt>
    <dgm:pt modelId="{69072883-7B2C-49D1-AACE-A6BC3BD72A54}" type="sibTrans" cxnId="{FEA38D54-3197-4E93-BDD7-45A8F8D8B744}">
      <dgm:prSet/>
      <dgm:spPr/>
      <dgm:t>
        <a:bodyPr/>
        <a:lstStyle/>
        <a:p>
          <a:endParaRPr lang="en-US"/>
        </a:p>
      </dgm:t>
    </dgm:pt>
    <dgm:pt modelId="{E9AF6BA2-5742-416B-8806-FEB20B2F0EDF}">
      <dgm:prSet phldrT="[Text]" custT="1"/>
      <dgm:spPr/>
      <dgm:t>
        <a:bodyPr/>
        <a:lstStyle/>
        <a:p>
          <a:r>
            <a:rPr lang="en-US" sz="24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Resuelve</a:t>
          </a:r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</a:t>
          </a:r>
          <a:r>
            <a:rPr lang="en-US" sz="24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problemas</a:t>
          </a:r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de </a:t>
          </a:r>
          <a:r>
            <a:rPr lang="en-US" sz="24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optimización</a:t>
          </a:r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, </a:t>
          </a:r>
          <a:r>
            <a:rPr lang="en-US" sz="24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incluyendo</a:t>
          </a:r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VRPs.</a:t>
          </a:r>
          <a:endParaRPr lang="en-US" sz="2400" dirty="0">
            <a:latin typeface="Yu Gothic Medium" panose="020B0500000000000000" pitchFamily="34" charset="-128"/>
            <a:ea typeface="Yu Gothic Medium" panose="020B0500000000000000" pitchFamily="34" charset="-128"/>
          </a:endParaRPr>
        </a:p>
      </dgm:t>
    </dgm:pt>
    <dgm:pt modelId="{DE66637C-5F9C-42A1-AFCB-8D940335C86F}" type="parTrans" cxnId="{9964166D-6B89-40B3-99FF-2DFEC9136ECF}">
      <dgm:prSet/>
      <dgm:spPr/>
      <dgm:t>
        <a:bodyPr/>
        <a:lstStyle/>
        <a:p>
          <a:endParaRPr lang="en-US"/>
        </a:p>
      </dgm:t>
    </dgm:pt>
    <dgm:pt modelId="{194E17F5-FCF6-47CB-BC68-E9AB9AF0AC8C}" type="sibTrans" cxnId="{9964166D-6B89-40B3-99FF-2DFEC9136ECF}">
      <dgm:prSet/>
      <dgm:spPr/>
      <dgm:t>
        <a:bodyPr/>
        <a:lstStyle/>
        <a:p>
          <a:endParaRPr lang="en-US"/>
        </a:p>
      </dgm:t>
    </dgm:pt>
    <dgm:pt modelId="{4E1CEFEE-027B-49D7-886B-A5BFC63BAA6B}">
      <dgm:prSet phldrT="[Text]" custT="1"/>
      <dgm:spPr/>
      <dgm:t>
        <a:bodyPr/>
        <a:lstStyle/>
        <a:p>
          <a:r>
            <a:rPr lang="en-US" sz="24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Emplea</a:t>
          </a:r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</a:t>
          </a:r>
          <a:r>
            <a:rPr lang="en-US" sz="24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heurísticas</a:t>
          </a:r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y </a:t>
          </a:r>
          <a:r>
            <a:rPr lang="en-US" sz="24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metaheurísticas</a:t>
          </a:r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.</a:t>
          </a:r>
          <a:endParaRPr lang="en-US" sz="2400" dirty="0">
            <a:latin typeface="Yu Gothic Medium" panose="020B0500000000000000" pitchFamily="34" charset="-128"/>
            <a:ea typeface="Yu Gothic Medium" panose="020B0500000000000000" pitchFamily="34" charset="-128"/>
          </a:endParaRPr>
        </a:p>
      </dgm:t>
    </dgm:pt>
    <dgm:pt modelId="{E8C2F7BE-8FA7-4FE4-9D4F-4777BF0F363E}" type="parTrans" cxnId="{1CD08801-D645-4F7B-ADD2-87A2C31BC04C}">
      <dgm:prSet/>
      <dgm:spPr/>
      <dgm:t>
        <a:bodyPr/>
        <a:lstStyle/>
        <a:p>
          <a:endParaRPr lang="en-US"/>
        </a:p>
      </dgm:t>
    </dgm:pt>
    <dgm:pt modelId="{4F53FFD6-3DB1-42BF-917E-33EC376B190B}" type="sibTrans" cxnId="{1CD08801-D645-4F7B-ADD2-87A2C31BC04C}">
      <dgm:prSet/>
      <dgm:spPr/>
      <dgm:t>
        <a:bodyPr/>
        <a:lstStyle/>
        <a:p>
          <a:endParaRPr lang="en-US"/>
        </a:p>
      </dgm:t>
    </dgm:pt>
    <dgm:pt modelId="{A8F46607-77DF-4A7F-B981-4F12607DBE66}">
      <dgm:prSet phldrT="[Text]" custT="1"/>
      <dgm:spPr/>
      <dgm:t>
        <a:bodyPr/>
        <a:lstStyle/>
        <a:p>
          <a:r>
            <a:rPr lang="en-US" sz="24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Desarrollada</a:t>
          </a:r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</a:t>
          </a:r>
          <a:r>
            <a:rPr lang="en-US" sz="24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en</a:t>
          </a:r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Java y Python.</a:t>
          </a:r>
          <a:endParaRPr lang="en-US" sz="2400" dirty="0">
            <a:latin typeface="Yu Gothic Medium" panose="020B0500000000000000" pitchFamily="34" charset="-128"/>
            <a:ea typeface="Yu Gothic Medium" panose="020B0500000000000000" pitchFamily="34" charset="-128"/>
          </a:endParaRPr>
        </a:p>
      </dgm:t>
    </dgm:pt>
    <dgm:pt modelId="{78511E9A-2DB0-409D-B758-22F9ABA47858}" type="parTrans" cxnId="{A4CDD87A-1047-453A-8E66-5290BBA5DDC6}">
      <dgm:prSet/>
      <dgm:spPr/>
      <dgm:t>
        <a:bodyPr/>
        <a:lstStyle/>
        <a:p>
          <a:endParaRPr lang="en-US"/>
        </a:p>
      </dgm:t>
    </dgm:pt>
    <dgm:pt modelId="{FCCB799C-A779-4CE5-BA88-3DD6CDFD1426}" type="sibTrans" cxnId="{A4CDD87A-1047-453A-8E66-5290BBA5DDC6}">
      <dgm:prSet/>
      <dgm:spPr/>
      <dgm:t>
        <a:bodyPr/>
        <a:lstStyle/>
        <a:p>
          <a:endParaRPr lang="en-US"/>
        </a:p>
      </dgm:t>
    </dgm:pt>
    <dgm:pt modelId="{449B4369-3EE2-4BE6-95CF-4D5697DF99BC}">
      <dgm:prSet phldrT="[Text]"/>
      <dgm:spPr/>
      <dgm:t>
        <a:bodyPr/>
        <a:lstStyle/>
        <a:p>
          <a:endParaRPr lang="en-US" sz="2300" dirty="0">
            <a:latin typeface="Yu Gothic Light" panose="020B0300000000000000" pitchFamily="34" charset="-128"/>
            <a:ea typeface="Yu Gothic Light" panose="020B0300000000000000" pitchFamily="34" charset="-128"/>
          </a:endParaRPr>
        </a:p>
      </dgm:t>
    </dgm:pt>
    <dgm:pt modelId="{702AFA16-4FA5-499B-AFDB-D46BF82366A1}" type="parTrans" cxnId="{69BE8EFD-29C7-498A-935E-A8F8BC41D062}">
      <dgm:prSet/>
      <dgm:spPr/>
      <dgm:t>
        <a:bodyPr/>
        <a:lstStyle/>
        <a:p>
          <a:endParaRPr lang="en-US"/>
        </a:p>
      </dgm:t>
    </dgm:pt>
    <dgm:pt modelId="{E66E85B4-42CA-435B-8502-FD4EDF82F5C4}" type="sibTrans" cxnId="{69BE8EFD-29C7-498A-935E-A8F8BC41D062}">
      <dgm:prSet/>
      <dgm:spPr/>
      <dgm:t>
        <a:bodyPr/>
        <a:lstStyle/>
        <a:p>
          <a:endParaRPr lang="en-US"/>
        </a:p>
      </dgm:t>
    </dgm:pt>
    <dgm:pt modelId="{0A168371-40A2-4636-BFE3-9A75E8336DA6}">
      <dgm:prSet phldrT="[Text]" custT="1"/>
      <dgm:spPr/>
      <dgm:t>
        <a:bodyPr/>
        <a:lstStyle/>
        <a:p>
          <a:r>
            <a:rPr lang="en-US" sz="24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Desarrollada</a:t>
          </a:r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</a:t>
          </a:r>
          <a:r>
            <a:rPr lang="en-US" sz="24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en</a:t>
          </a:r>
          <a:r>
            <a:rPr lang="en-U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C++, C#, Java y Python.</a:t>
          </a:r>
          <a:endParaRPr lang="en-US" sz="2400" dirty="0">
            <a:latin typeface="Yu Gothic Medium" panose="020B0500000000000000" pitchFamily="34" charset="-128"/>
            <a:ea typeface="Yu Gothic Medium" panose="020B0500000000000000" pitchFamily="34" charset="-128"/>
          </a:endParaRPr>
        </a:p>
      </dgm:t>
    </dgm:pt>
    <dgm:pt modelId="{86D8F471-2191-4E49-91C7-E9833071BBEC}" type="parTrans" cxnId="{D579608D-03D9-43C1-8C3F-1DABEBC4F821}">
      <dgm:prSet/>
      <dgm:spPr/>
      <dgm:t>
        <a:bodyPr/>
        <a:lstStyle/>
        <a:p>
          <a:endParaRPr lang="en-US"/>
        </a:p>
      </dgm:t>
    </dgm:pt>
    <dgm:pt modelId="{2B12D7D8-EE61-4650-9E64-78749F628851}" type="sibTrans" cxnId="{D579608D-03D9-43C1-8C3F-1DABEBC4F821}">
      <dgm:prSet/>
      <dgm:spPr/>
      <dgm:t>
        <a:bodyPr/>
        <a:lstStyle/>
        <a:p>
          <a:endParaRPr lang="en-US"/>
        </a:p>
      </dgm:t>
    </dgm:pt>
    <dgm:pt modelId="{36EF1E6F-3C38-4FA5-837A-D34588612136}" type="pres">
      <dgm:prSet presAssocID="{71AAF2EC-4F9F-4FE9-8A77-33C65AD07D4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A09186C-726E-4102-9888-41A004475301}" type="pres">
      <dgm:prSet presAssocID="{F9F97F43-47C7-47D7-96B0-28472F58DE77}" presName="composite" presStyleCnt="0"/>
      <dgm:spPr/>
    </dgm:pt>
    <dgm:pt modelId="{13C9ED24-804F-416F-A57A-E624EC4FA18D}" type="pres">
      <dgm:prSet presAssocID="{F9F97F43-47C7-47D7-96B0-28472F58DE77}" presName="parTx" presStyleLbl="alignNode1" presStyleIdx="0" presStyleCnt="2" custLinFactNeighborX="54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C33C66-94C3-4D1C-92EF-44109D3CC61E}" type="pres">
      <dgm:prSet presAssocID="{F9F97F43-47C7-47D7-96B0-28472F58DE77}" presName="desTx" presStyleLbl="alignAccFollowNode1" presStyleIdx="0" presStyleCnt="2" custLinFactNeighborX="55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422EB4-5D39-4C1C-9F81-F7B182B04672}" type="pres">
      <dgm:prSet presAssocID="{D08360C0-2DF9-4D05-ACA3-43A9524E499F}" presName="space" presStyleCnt="0"/>
      <dgm:spPr/>
    </dgm:pt>
    <dgm:pt modelId="{8E60327F-76D0-44C1-B11B-659123E91030}" type="pres">
      <dgm:prSet presAssocID="{D340E044-66D8-4249-A6BA-EC622CDCF43F}" presName="composite" presStyleCnt="0"/>
      <dgm:spPr/>
    </dgm:pt>
    <dgm:pt modelId="{054DFC0F-468F-4566-A15B-F6FBDAED6D31}" type="pres">
      <dgm:prSet presAssocID="{D340E044-66D8-4249-A6BA-EC622CDCF43F}" presName="parTx" presStyleLbl="alignNode1" presStyleIdx="1" presStyleCnt="2" custScaleX="1189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06DF1C-0EF1-4BC5-8111-257F7E12247E}" type="pres">
      <dgm:prSet presAssocID="{D340E044-66D8-4249-A6BA-EC622CDCF43F}" presName="desTx" presStyleLbl="alignAccFollowNode1" presStyleIdx="1" presStyleCnt="2" custScaleX="118985" custLinFactNeighborY="-13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6B72F30-2030-4697-83BC-0A567FC1EA3B}" type="presOf" srcId="{4E1CEFEE-027B-49D7-886B-A5BFC63BAA6B}" destId="{5A06DF1C-0EF1-4BC5-8111-257F7E12247E}" srcOrd="0" destOrd="1" presId="urn:microsoft.com/office/officeart/2005/8/layout/hList1"/>
    <dgm:cxn modelId="{BCF8FD7B-B948-4297-85CA-FD82FA94D2AE}" type="presOf" srcId="{71AAF2EC-4F9F-4FE9-8A77-33C65AD07D41}" destId="{36EF1E6F-3C38-4FA5-837A-D34588612136}" srcOrd="0" destOrd="0" presId="urn:microsoft.com/office/officeart/2005/8/layout/hList1"/>
    <dgm:cxn modelId="{443C0037-3938-4CC7-BB41-515E3172085B}" type="presOf" srcId="{0A168371-40A2-4636-BFE3-9A75E8336DA6}" destId="{5A06DF1C-0EF1-4BC5-8111-257F7E12247E}" srcOrd="0" destOrd="2" presId="urn:microsoft.com/office/officeart/2005/8/layout/hList1"/>
    <dgm:cxn modelId="{6823A429-0B69-4777-8FEF-B274E97389DC}" type="presOf" srcId="{E9AF6BA2-5742-416B-8806-FEB20B2F0EDF}" destId="{5A06DF1C-0EF1-4BC5-8111-257F7E12247E}" srcOrd="0" destOrd="0" presId="urn:microsoft.com/office/officeart/2005/8/layout/hList1"/>
    <dgm:cxn modelId="{04628706-72B9-423F-B4F1-BF1E172F950C}" type="presOf" srcId="{F9F97F43-47C7-47D7-96B0-28472F58DE77}" destId="{13C9ED24-804F-416F-A57A-E624EC4FA18D}" srcOrd="0" destOrd="0" presId="urn:microsoft.com/office/officeart/2005/8/layout/hList1"/>
    <dgm:cxn modelId="{FEA38D54-3197-4E93-BDD7-45A8F8D8B744}" srcId="{71AAF2EC-4F9F-4FE9-8A77-33C65AD07D41}" destId="{D340E044-66D8-4249-A6BA-EC622CDCF43F}" srcOrd="1" destOrd="0" parTransId="{A3DD71C6-7216-474F-99E6-A0437B43D25B}" sibTransId="{69072883-7B2C-49D1-AACE-A6BC3BD72A54}"/>
    <dgm:cxn modelId="{9964166D-6B89-40B3-99FF-2DFEC9136ECF}" srcId="{D340E044-66D8-4249-A6BA-EC622CDCF43F}" destId="{E9AF6BA2-5742-416B-8806-FEB20B2F0EDF}" srcOrd="0" destOrd="0" parTransId="{DE66637C-5F9C-42A1-AFCB-8D940335C86F}" sibTransId="{194E17F5-FCF6-47CB-BC68-E9AB9AF0AC8C}"/>
    <dgm:cxn modelId="{A4CDD87A-1047-453A-8E66-5290BBA5DDC6}" srcId="{F9F97F43-47C7-47D7-96B0-28472F58DE77}" destId="{A8F46607-77DF-4A7F-B981-4F12607DBE66}" srcOrd="2" destOrd="0" parTransId="{78511E9A-2DB0-409D-B758-22F9ABA47858}" sibTransId="{FCCB799C-A779-4CE5-BA88-3DD6CDFD1426}"/>
    <dgm:cxn modelId="{3B5D6008-5D67-4B09-B6D8-8A1DF2E3B317}" type="presOf" srcId="{1AEBE0C9-CF45-46DB-A35B-1CE7A4156227}" destId="{FFC33C66-94C3-4D1C-92EF-44109D3CC61E}" srcOrd="0" destOrd="0" presId="urn:microsoft.com/office/officeart/2005/8/layout/hList1"/>
    <dgm:cxn modelId="{DBC87B61-6DC9-4DBF-8F6E-DA90D7EC8D6A}" type="presOf" srcId="{449B4369-3EE2-4BE6-95CF-4D5697DF99BC}" destId="{FFC33C66-94C3-4D1C-92EF-44109D3CC61E}" srcOrd="0" destOrd="3" presId="urn:microsoft.com/office/officeart/2005/8/layout/hList1"/>
    <dgm:cxn modelId="{8625C1D2-13DD-43A6-ADF9-7C17D88EFC9F}" srcId="{F9F97F43-47C7-47D7-96B0-28472F58DE77}" destId="{1AEBE0C9-CF45-46DB-A35B-1CE7A4156227}" srcOrd="0" destOrd="0" parTransId="{6E48DFD0-EF9F-4E6D-A27B-97AC6C123C92}" sibTransId="{E9BA7B35-E867-4993-B139-51AB0F64424B}"/>
    <dgm:cxn modelId="{69BE8EFD-29C7-498A-935E-A8F8BC41D062}" srcId="{F9F97F43-47C7-47D7-96B0-28472F58DE77}" destId="{449B4369-3EE2-4BE6-95CF-4D5697DF99BC}" srcOrd="3" destOrd="0" parTransId="{702AFA16-4FA5-499B-AFDB-D46BF82366A1}" sibTransId="{E66E85B4-42CA-435B-8502-FD4EDF82F5C4}"/>
    <dgm:cxn modelId="{D579608D-03D9-43C1-8C3F-1DABEBC4F821}" srcId="{D340E044-66D8-4249-A6BA-EC622CDCF43F}" destId="{0A168371-40A2-4636-BFE3-9A75E8336DA6}" srcOrd="2" destOrd="0" parTransId="{86D8F471-2191-4E49-91C7-E9833071BBEC}" sibTransId="{2B12D7D8-EE61-4650-9E64-78749F628851}"/>
    <dgm:cxn modelId="{3C755AAB-7D37-415F-988A-C9A4839D9F61}" type="presOf" srcId="{A8F46607-77DF-4A7F-B981-4F12607DBE66}" destId="{FFC33C66-94C3-4D1C-92EF-44109D3CC61E}" srcOrd="0" destOrd="2" presId="urn:microsoft.com/office/officeart/2005/8/layout/hList1"/>
    <dgm:cxn modelId="{9443875B-F873-4E98-ADF5-CB74EBA01947}" type="presOf" srcId="{9D17DD19-06F1-4B9E-9B4C-4B9CE5764F75}" destId="{FFC33C66-94C3-4D1C-92EF-44109D3CC61E}" srcOrd="0" destOrd="1" presId="urn:microsoft.com/office/officeart/2005/8/layout/hList1"/>
    <dgm:cxn modelId="{D2F0E7AE-9BA8-40B7-B6A1-1BE580A0B1C5}" srcId="{F9F97F43-47C7-47D7-96B0-28472F58DE77}" destId="{9D17DD19-06F1-4B9E-9B4C-4B9CE5764F75}" srcOrd="1" destOrd="0" parTransId="{8CFF6829-4774-41FD-BB14-F3227182B5D7}" sibTransId="{22B8DA65-D118-485B-8249-3E9A48B6653B}"/>
    <dgm:cxn modelId="{75B0C3DE-6EB6-4617-B678-FA6E165F90E4}" srcId="{71AAF2EC-4F9F-4FE9-8A77-33C65AD07D41}" destId="{F9F97F43-47C7-47D7-96B0-28472F58DE77}" srcOrd="0" destOrd="0" parTransId="{555CC0E2-BD91-4EB5-8152-AA305643578B}" sibTransId="{D08360C0-2DF9-4D05-ACA3-43A9524E499F}"/>
    <dgm:cxn modelId="{D8A450BC-CBCF-40F1-B477-724103F9C197}" type="presOf" srcId="{D340E044-66D8-4249-A6BA-EC622CDCF43F}" destId="{054DFC0F-468F-4566-A15B-F6FBDAED6D31}" srcOrd="0" destOrd="0" presId="urn:microsoft.com/office/officeart/2005/8/layout/hList1"/>
    <dgm:cxn modelId="{1CD08801-D645-4F7B-ADD2-87A2C31BC04C}" srcId="{D340E044-66D8-4249-A6BA-EC622CDCF43F}" destId="{4E1CEFEE-027B-49D7-886B-A5BFC63BAA6B}" srcOrd="1" destOrd="0" parTransId="{E8C2F7BE-8FA7-4FE4-9D4F-4777BF0F363E}" sibTransId="{4F53FFD6-3DB1-42BF-917E-33EC376B190B}"/>
    <dgm:cxn modelId="{91AA128F-ECCD-4099-B4C2-D16D497654EB}" type="presParOf" srcId="{36EF1E6F-3C38-4FA5-837A-D34588612136}" destId="{AA09186C-726E-4102-9888-41A004475301}" srcOrd="0" destOrd="0" presId="urn:microsoft.com/office/officeart/2005/8/layout/hList1"/>
    <dgm:cxn modelId="{3B416107-6289-454A-B51F-70822D47E44E}" type="presParOf" srcId="{AA09186C-726E-4102-9888-41A004475301}" destId="{13C9ED24-804F-416F-A57A-E624EC4FA18D}" srcOrd="0" destOrd="0" presId="urn:microsoft.com/office/officeart/2005/8/layout/hList1"/>
    <dgm:cxn modelId="{0B903C1F-8CEF-4A2D-8D42-CE325EA7893D}" type="presParOf" srcId="{AA09186C-726E-4102-9888-41A004475301}" destId="{FFC33C66-94C3-4D1C-92EF-44109D3CC61E}" srcOrd="1" destOrd="0" presId="urn:microsoft.com/office/officeart/2005/8/layout/hList1"/>
    <dgm:cxn modelId="{45462F72-879C-42B2-832A-1BC05D65781A}" type="presParOf" srcId="{36EF1E6F-3C38-4FA5-837A-D34588612136}" destId="{E6422EB4-5D39-4C1C-9F81-F7B182B04672}" srcOrd="1" destOrd="0" presId="urn:microsoft.com/office/officeart/2005/8/layout/hList1"/>
    <dgm:cxn modelId="{D5197BED-33C4-4440-9261-675FA8245042}" type="presParOf" srcId="{36EF1E6F-3C38-4FA5-837A-D34588612136}" destId="{8E60327F-76D0-44C1-B11B-659123E91030}" srcOrd="2" destOrd="0" presId="urn:microsoft.com/office/officeart/2005/8/layout/hList1"/>
    <dgm:cxn modelId="{9988F226-BB65-426A-ABF3-163D25BFFEA0}" type="presParOf" srcId="{8E60327F-76D0-44C1-B11B-659123E91030}" destId="{054DFC0F-468F-4566-A15B-F6FBDAED6D31}" srcOrd="0" destOrd="0" presId="urn:microsoft.com/office/officeart/2005/8/layout/hList1"/>
    <dgm:cxn modelId="{871C27CD-584F-4154-A218-BE895A162816}" type="presParOf" srcId="{8E60327F-76D0-44C1-B11B-659123E91030}" destId="{5A06DF1C-0EF1-4BC5-8111-257F7E12247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C9ED24-804F-416F-A57A-E624EC4FA18D}">
      <dsp:nvSpPr>
        <dsp:cNvPr id="0" name=""/>
        <dsp:cNvSpPr/>
      </dsp:nvSpPr>
      <dsp:spPr>
        <a:xfrm>
          <a:off x="34091" y="244927"/>
          <a:ext cx="5162340" cy="6840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BHCVRP</a:t>
          </a:r>
          <a:endParaRPr lang="en-US" sz="2400" kern="1200" dirty="0">
            <a:latin typeface="Yu Gothic Medium" panose="020B0500000000000000" pitchFamily="34" charset="-128"/>
            <a:ea typeface="Yu Gothic Medium" panose="020B0500000000000000" pitchFamily="34" charset="-128"/>
          </a:endParaRPr>
        </a:p>
      </dsp:txBody>
      <dsp:txXfrm>
        <a:off x="34091" y="244927"/>
        <a:ext cx="5162340" cy="684000"/>
      </dsp:txXfrm>
    </dsp:sp>
    <dsp:sp modelId="{FFC33C66-94C3-4D1C-92EF-44109D3CC61E}">
      <dsp:nvSpPr>
        <dsp:cNvPr id="0" name=""/>
        <dsp:cNvSpPr/>
      </dsp:nvSpPr>
      <dsp:spPr>
        <a:xfrm>
          <a:off x="34453" y="928927"/>
          <a:ext cx="5162340" cy="30916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Resuelve</a:t>
          </a: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</a:t>
          </a:r>
          <a:r>
            <a:rPr lang="en-US" sz="2400" kern="12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cuatro</a:t>
          </a: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</a:t>
          </a:r>
          <a:r>
            <a:rPr lang="en-US" sz="2400" kern="12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variantes</a:t>
          </a: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VRP.</a:t>
          </a:r>
          <a:endParaRPr lang="en-US" sz="2400" kern="1200" dirty="0">
            <a:latin typeface="Yu Gothic Medium" panose="020B0500000000000000" pitchFamily="34" charset="-128"/>
            <a:ea typeface="Yu Gothic Medium" panose="020B0500000000000000" pitchFamily="34" charset="-128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Emplea</a:t>
          </a: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</a:t>
          </a:r>
          <a:r>
            <a:rPr lang="en-US" sz="2400" kern="12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nueve</a:t>
          </a: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</a:t>
          </a:r>
          <a:r>
            <a:rPr lang="en-US" sz="2400" kern="12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heurísticas</a:t>
          </a: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de </a:t>
          </a:r>
          <a:r>
            <a:rPr lang="en-US" sz="2400" kern="12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construcción</a:t>
          </a: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.</a:t>
          </a:r>
          <a:endParaRPr lang="en-US" sz="2400" kern="1200" dirty="0">
            <a:latin typeface="Yu Gothic Medium" panose="020B0500000000000000" pitchFamily="34" charset="-128"/>
            <a:ea typeface="Yu Gothic Medium" panose="020B0500000000000000" pitchFamily="34" charset="-128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Desarrollada</a:t>
          </a: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</a:t>
          </a:r>
          <a:r>
            <a:rPr lang="en-US" sz="2400" kern="12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en</a:t>
          </a: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Java y Python.</a:t>
          </a:r>
          <a:endParaRPr lang="en-US" sz="2400" kern="1200" dirty="0">
            <a:latin typeface="Yu Gothic Medium" panose="020B0500000000000000" pitchFamily="34" charset="-128"/>
            <a:ea typeface="Yu Gothic Medium" panose="020B0500000000000000" pitchFamily="34" charset="-128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300" kern="1200" dirty="0">
            <a:latin typeface="Yu Gothic Light" panose="020B0300000000000000" pitchFamily="34" charset="-128"/>
            <a:ea typeface="Yu Gothic Light" panose="020B0300000000000000" pitchFamily="34" charset="-128"/>
          </a:endParaRPr>
        </a:p>
      </dsp:txBody>
      <dsp:txXfrm>
        <a:off x="34453" y="928927"/>
        <a:ext cx="5162340" cy="3091637"/>
      </dsp:txXfrm>
    </dsp:sp>
    <dsp:sp modelId="{054DFC0F-468F-4566-A15B-F6FBDAED6D31}">
      <dsp:nvSpPr>
        <dsp:cNvPr id="0" name=""/>
        <dsp:cNvSpPr/>
      </dsp:nvSpPr>
      <dsp:spPr>
        <a:xfrm>
          <a:off x="5892806" y="244927"/>
          <a:ext cx="6139055" cy="684000"/>
        </a:xfrm>
        <a:prstGeom prst="rect">
          <a:avLst/>
        </a:prstGeom>
        <a:solidFill>
          <a:schemeClr val="accent1">
            <a:shade val="80000"/>
            <a:hueOff val="271263"/>
            <a:satOff val="5175"/>
            <a:lumOff val="22855"/>
            <a:alphaOff val="0"/>
          </a:schemeClr>
        </a:solidFill>
        <a:ln w="12700" cap="flat" cmpd="sng" algn="ctr">
          <a:solidFill>
            <a:schemeClr val="accent1">
              <a:shade val="80000"/>
              <a:hueOff val="271263"/>
              <a:satOff val="5175"/>
              <a:lumOff val="228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OR-Tools</a:t>
          </a:r>
          <a:endParaRPr lang="en-US" sz="2400" kern="1200" dirty="0">
            <a:latin typeface="Yu Gothic Medium" panose="020B0500000000000000" pitchFamily="34" charset="-128"/>
            <a:ea typeface="Yu Gothic Medium" panose="020B0500000000000000" pitchFamily="34" charset="-128"/>
          </a:endParaRPr>
        </a:p>
      </dsp:txBody>
      <dsp:txXfrm>
        <a:off x="5892806" y="244927"/>
        <a:ext cx="6139055" cy="684000"/>
      </dsp:txXfrm>
    </dsp:sp>
    <dsp:sp modelId="{5A06DF1C-0EF1-4BC5-8111-257F7E12247E}">
      <dsp:nvSpPr>
        <dsp:cNvPr id="0" name=""/>
        <dsp:cNvSpPr/>
      </dsp:nvSpPr>
      <dsp:spPr>
        <a:xfrm>
          <a:off x="5891128" y="888272"/>
          <a:ext cx="6142411" cy="30916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Resuelve</a:t>
          </a: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</a:t>
          </a:r>
          <a:r>
            <a:rPr lang="en-US" sz="2400" kern="12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problemas</a:t>
          </a: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de </a:t>
          </a:r>
          <a:r>
            <a:rPr lang="en-US" sz="2400" kern="12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optimización</a:t>
          </a: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, </a:t>
          </a:r>
          <a:r>
            <a:rPr lang="en-US" sz="2400" kern="12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incluyendo</a:t>
          </a: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VRPs.</a:t>
          </a:r>
          <a:endParaRPr lang="en-US" sz="2400" kern="1200" dirty="0">
            <a:latin typeface="Yu Gothic Medium" panose="020B0500000000000000" pitchFamily="34" charset="-128"/>
            <a:ea typeface="Yu Gothic Medium" panose="020B0500000000000000" pitchFamily="34" charset="-128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Emplea</a:t>
          </a: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</a:t>
          </a:r>
          <a:r>
            <a:rPr lang="en-US" sz="2400" kern="12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heurísticas</a:t>
          </a: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y </a:t>
          </a:r>
          <a:r>
            <a:rPr lang="en-US" sz="2400" kern="12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metaheurísticas</a:t>
          </a: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.</a:t>
          </a:r>
          <a:endParaRPr lang="en-US" sz="2400" kern="1200" dirty="0">
            <a:latin typeface="Yu Gothic Medium" panose="020B0500000000000000" pitchFamily="34" charset="-128"/>
            <a:ea typeface="Yu Gothic Medium" panose="020B0500000000000000" pitchFamily="34" charset="-128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Desarrollada</a:t>
          </a: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</a:t>
          </a:r>
          <a:r>
            <a:rPr lang="en-US" sz="2400" kern="1200" dirty="0" err="1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en</a:t>
          </a:r>
          <a:r>
            <a:rPr lang="en-US" sz="2400" kern="1200" dirty="0" smtClean="0">
              <a:latin typeface="Yu Gothic Medium" panose="020B0500000000000000" pitchFamily="34" charset="-128"/>
              <a:ea typeface="Yu Gothic Medium" panose="020B0500000000000000" pitchFamily="34" charset="-128"/>
            </a:rPr>
            <a:t> C++, C#, Java y Python.</a:t>
          </a:r>
          <a:endParaRPr lang="en-US" sz="2400" kern="1200" dirty="0">
            <a:latin typeface="Yu Gothic Medium" panose="020B0500000000000000" pitchFamily="34" charset="-128"/>
            <a:ea typeface="Yu Gothic Medium" panose="020B0500000000000000" pitchFamily="34" charset="-128"/>
          </a:endParaRPr>
        </a:p>
      </dsp:txBody>
      <dsp:txXfrm>
        <a:off x="5891128" y="888272"/>
        <a:ext cx="6142411" cy="30916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50589-8A30-45A7-B517-A67305AEE5F3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79DB6-DA01-46D0-BD88-B572255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8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50589-8A30-45A7-B517-A67305AEE5F3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79DB6-DA01-46D0-BD88-B572255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9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50589-8A30-45A7-B517-A67305AEE5F3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79DB6-DA01-46D0-BD88-B572255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62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50589-8A30-45A7-B517-A67305AEE5F3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79DB6-DA01-46D0-BD88-B572255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09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50589-8A30-45A7-B517-A67305AEE5F3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79DB6-DA01-46D0-BD88-B572255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68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50589-8A30-45A7-B517-A67305AEE5F3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79DB6-DA01-46D0-BD88-B572255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76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50589-8A30-45A7-B517-A67305AEE5F3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79DB6-DA01-46D0-BD88-B572255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98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50589-8A30-45A7-B517-A67305AEE5F3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79DB6-DA01-46D0-BD88-B572255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6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50589-8A30-45A7-B517-A67305AEE5F3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79DB6-DA01-46D0-BD88-B572255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81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50589-8A30-45A7-B517-A67305AEE5F3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79DB6-DA01-46D0-BD88-B572255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58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50589-8A30-45A7-B517-A67305AEE5F3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79DB6-DA01-46D0-BD88-B572255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08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50589-8A30-45A7-B517-A67305AEE5F3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79DB6-DA01-46D0-BD88-B572255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12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4D31BF8-0A2C-08A1-04E2-7FB25DB88CB8}"/>
              </a:ext>
            </a:extLst>
          </p:cNvPr>
          <p:cNvSpPr/>
          <p:nvPr/>
        </p:nvSpPr>
        <p:spPr>
          <a:xfrm>
            <a:off x="734635" y="2916296"/>
            <a:ext cx="106506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just"/>
            <a:r>
              <a:rPr lang="es-ES" sz="440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Comparación entre BHCVRP y OR-Tools</a:t>
            </a:r>
            <a:endParaRPr lang="es-ES" sz="4400" b="0" cap="none" spc="0" dirty="0" smtClean="0">
              <a:ln w="0"/>
              <a:solidFill>
                <a:srgbClr val="07588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4952FE-20FB-B49E-D6E1-CB06CB134265}"/>
              </a:ext>
            </a:extLst>
          </p:cNvPr>
          <p:cNvSpPr txBox="1"/>
          <p:nvPr/>
        </p:nvSpPr>
        <p:spPr>
          <a:xfrm>
            <a:off x="3087600" y="4037134"/>
            <a:ext cx="594474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		</a:t>
            </a:r>
            <a:endParaRPr lang="es-ES" b="1" dirty="0"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algn="ctr"/>
            <a:r>
              <a:rPr lang="es-ES" sz="26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Autores: </a:t>
            </a:r>
          </a:p>
          <a:p>
            <a:pPr algn="ctr"/>
            <a:r>
              <a:rPr lang="es-ES" sz="2600" b="1" dirty="0" err="1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Ananda</a:t>
            </a:r>
            <a:r>
              <a:rPr lang="es-ES" sz="26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s-ES" sz="2600" b="1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de la C. Morales </a:t>
            </a:r>
            <a:r>
              <a:rPr lang="es-ES" sz="2600" b="1" dirty="0" err="1">
                <a:latin typeface="Yu Gothic Light" panose="020B0300000000000000" pitchFamily="34" charset="-128"/>
                <a:ea typeface="Yu Gothic Light" panose="020B0300000000000000" pitchFamily="34" charset="-128"/>
              </a:rPr>
              <a:t>Morales</a:t>
            </a:r>
            <a:r>
              <a:rPr lang="es-ES" sz="2600" b="1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     </a:t>
            </a:r>
            <a:r>
              <a:rPr lang="es-ES" sz="26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                                 </a:t>
            </a:r>
          </a:p>
          <a:p>
            <a:pPr algn="ctr"/>
            <a:r>
              <a:rPr lang="es-ES" sz="26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Dayana Vázquez Rodríguez</a:t>
            </a:r>
            <a:endParaRPr lang="es-ES" sz="2600" b="1" dirty="0"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algn="ctr"/>
            <a:r>
              <a:rPr lang="es-ES" sz="26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Isis </a:t>
            </a:r>
            <a:r>
              <a:rPr lang="es-ES" sz="26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Torres Pérez</a:t>
            </a:r>
          </a:p>
          <a:p>
            <a:pPr algn="ctr"/>
            <a:r>
              <a:rPr lang="es-ES" sz="26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Alejandro </a:t>
            </a:r>
            <a:r>
              <a:rPr lang="es-ES" sz="26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Rosete Suárez</a:t>
            </a:r>
          </a:p>
        </p:txBody>
      </p:sp>
      <p:cxnSp>
        <p:nvCxnSpPr>
          <p:cNvPr id="9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 flipV="1">
            <a:off x="645022" y="3657600"/>
            <a:ext cx="10881360" cy="28137"/>
          </a:xfrm>
          <a:prstGeom prst="line">
            <a:avLst/>
          </a:prstGeom>
          <a:ln w="19050">
            <a:solidFill>
              <a:srgbClr val="0758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11474920" y="3566544"/>
            <a:ext cx="182111" cy="182111"/>
          </a:xfrm>
          <a:prstGeom prst="ellipse">
            <a:avLst/>
          </a:prstGeom>
          <a:solidFill>
            <a:srgbClr val="07588F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6">
            <a:extLst>
              <a:ext uri="{FF2B5EF4-FFF2-40B4-BE49-F238E27FC236}">
                <a16:creationId xmlns:a16="http://schemas.microsoft.com/office/drawing/2014/main" id="{34D31BF8-0A2C-08A1-04E2-7FB25DB88CB8}"/>
              </a:ext>
            </a:extLst>
          </p:cNvPr>
          <p:cNvSpPr/>
          <p:nvPr/>
        </p:nvSpPr>
        <p:spPr>
          <a:xfrm>
            <a:off x="829213" y="595781"/>
            <a:ext cx="1046151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just"/>
            <a:r>
              <a:rPr lang="es-ES" sz="440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VI Congreso de Ingeniería Informática </a:t>
            </a:r>
          </a:p>
          <a:p>
            <a:pPr algn="just"/>
            <a:r>
              <a:rPr lang="es-ES" sz="440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y Sistemas de Información (CIIISI’2024)</a:t>
            </a:r>
            <a:endParaRPr lang="es-ES" sz="4400" b="0" cap="none" spc="0" dirty="0" smtClean="0">
              <a:ln w="0"/>
              <a:solidFill>
                <a:srgbClr val="07588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8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523609" y="3589848"/>
            <a:ext cx="182111" cy="182111"/>
          </a:xfrm>
          <a:prstGeom prst="ellipse">
            <a:avLst/>
          </a:prstGeom>
          <a:solidFill>
            <a:srgbClr val="07588F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893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-27708" y="621782"/>
            <a:ext cx="118481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Problema de Planificación de Rutas de Vehículos:</a:t>
            </a:r>
            <a:endParaRPr lang="es-ES" sz="4400" cap="none" spc="0" dirty="0">
              <a:ln w="0"/>
              <a:solidFill>
                <a:srgbClr val="07588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21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252157"/>
            <a:ext cx="11704320" cy="0"/>
          </a:xfrm>
          <a:prstGeom prst="line">
            <a:avLst/>
          </a:prstGeom>
          <a:ln w="19050">
            <a:solidFill>
              <a:srgbClr val="0758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11703901" y="1147557"/>
            <a:ext cx="182111" cy="182111"/>
          </a:xfrm>
          <a:prstGeom prst="ellipse">
            <a:avLst/>
          </a:prstGeom>
          <a:solidFill>
            <a:srgbClr val="07588F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40">
            <a:extLst>
              <a:ext uri="{FF2B5EF4-FFF2-40B4-BE49-F238E27FC236}">
                <a16:creationId xmlns:a16="http://schemas.microsoft.com/office/drawing/2014/main" id="{764566D4-A7D8-C951-CCC1-06B266ED8662}"/>
              </a:ext>
            </a:extLst>
          </p:cNvPr>
          <p:cNvSpPr/>
          <p:nvPr/>
        </p:nvSpPr>
        <p:spPr>
          <a:xfrm>
            <a:off x="616659" y="1380086"/>
            <a:ext cx="7592621" cy="5345833"/>
          </a:xfrm>
          <a:prstGeom prst="rect">
            <a:avLst/>
          </a:prstGeom>
          <a:solidFill>
            <a:srgbClr val="07588F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angle 21"/>
          <p:cNvSpPr/>
          <p:nvPr/>
        </p:nvSpPr>
        <p:spPr>
          <a:xfrm>
            <a:off x="789557" y="1457596"/>
            <a:ext cx="717454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Complejos de resolver para instancias con un número de clientes elevado.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Pertenecen a la clase de problemas NP-duro.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Se proponen modelos básicos extendidos a diferentes campos de la logística y el transporte.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Dentro de las variantes clásicas se encuentra: VRP con capacidades (CVRP), VRP con flota heterogénea (HFVRP), entre otros.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Como alternativa de solución se aplican algoritmos heurísticos.</a:t>
            </a:r>
          </a:p>
        </p:txBody>
      </p:sp>
      <p:grpSp>
        <p:nvGrpSpPr>
          <p:cNvPr id="24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6919" y="1559771"/>
            <a:ext cx="822960" cy="182111"/>
            <a:chOff x="6953638" y="4445973"/>
            <a:chExt cx="838167" cy="182111"/>
          </a:xfrm>
        </p:grpSpPr>
        <p:cxnSp>
          <p:nvCxnSpPr>
            <p:cNvPr id="25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9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2675060"/>
            <a:ext cx="822960" cy="182111"/>
            <a:chOff x="6953638" y="4445973"/>
            <a:chExt cx="838167" cy="182111"/>
          </a:xfrm>
        </p:grpSpPr>
        <p:cxnSp>
          <p:nvCxnSpPr>
            <p:cNvPr id="30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2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3416740"/>
            <a:ext cx="822960" cy="182111"/>
            <a:chOff x="6953638" y="4445973"/>
            <a:chExt cx="838167" cy="182111"/>
          </a:xfrm>
        </p:grpSpPr>
        <p:cxnSp>
          <p:nvCxnSpPr>
            <p:cNvPr id="33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5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4524180"/>
            <a:ext cx="822960" cy="182111"/>
            <a:chOff x="6953638" y="4445973"/>
            <a:chExt cx="838167" cy="182111"/>
          </a:xfrm>
        </p:grpSpPr>
        <p:cxnSp>
          <p:nvCxnSpPr>
            <p:cNvPr id="36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0" t="1922" r="4843" b="3151"/>
          <a:stretch/>
        </p:blipFill>
        <p:spPr>
          <a:xfrm>
            <a:off x="8273669" y="2316480"/>
            <a:ext cx="3895225" cy="2712719"/>
          </a:xfrm>
          <a:prstGeom prst="rect">
            <a:avLst/>
          </a:prstGeom>
        </p:spPr>
      </p:pic>
      <p:grpSp>
        <p:nvGrpSpPr>
          <p:cNvPr id="39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5987220"/>
            <a:ext cx="822960" cy="182111"/>
            <a:chOff x="6953638" y="4445973"/>
            <a:chExt cx="838167" cy="182111"/>
          </a:xfrm>
        </p:grpSpPr>
        <p:cxnSp>
          <p:nvCxnSpPr>
            <p:cNvPr id="40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75029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-27708" y="540502"/>
            <a:ext cx="691086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Heurísticas de construcción:</a:t>
            </a:r>
            <a:endParaRPr lang="es-ES" sz="4400" cap="none" spc="0" dirty="0">
              <a:ln w="0"/>
              <a:solidFill>
                <a:srgbClr val="07588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21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170877"/>
            <a:ext cx="8321040" cy="0"/>
          </a:xfrm>
          <a:prstGeom prst="line">
            <a:avLst/>
          </a:prstGeom>
          <a:ln w="19050">
            <a:solidFill>
              <a:srgbClr val="0758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8208861" y="1066277"/>
            <a:ext cx="182111" cy="182111"/>
          </a:xfrm>
          <a:prstGeom prst="ellipse">
            <a:avLst/>
          </a:prstGeom>
          <a:solidFill>
            <a:srgbClr val="07588F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40">
            <a:extLst>
              <a:ext uri="{FF2B5EF4-FFF2-40B4-BE49-F238E27FC236}">
                <a16:creationId xmlns:a16="http://schemas.microsoft.com/office/drawing/2014/main" id="{764566D4-A7D8-C951-CCC1-06B266ED8662}"/>
              </a:ext>
            </a:extLst>
          </p:cNvPr>
          <p:cNvSpPr/>
          <p:nvPr/>
        </p:nvSpPr>
        <p:spPr>
          <a:xfrm>
            <a:off x="616659" y="1386301"/>
            <a:ext cx="11118141" cy="5309139"/>
          </a:xfrm>
          <a:prstGeom prst="rect">
            <a:avLst/>
          </a:prstGeom>
          <a:solidFill>
            <a:srgbClr val="07588F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angle 21"/>
          <p:cNvSpPr/>
          <p:nvPr/>
        </p:nvSpPr>
        <p:spPr>
          <a:xfrm>
            <a:off x="914240" y="1440871"/>
            <a:ext cx="1069863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Brindan soluciones satisfactorias a un problema dado mediante algoritmos específicos.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S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e encargan de construir literalmente una solución del problema, paso a paso.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Dentro de las clásicas de la literatura 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para resolver </a:t>
            </a:r>
            <a:r>
              <a:rPr lang="es-ES" sz="2400" dirty="0" err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VRPs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 se 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encuentran: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Algoritmo de Ahorros.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Algoritmo de Barrido.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Heurística de Inserción de Mole &amp; </a:t>
            </a:r>
            <a:r>
              <a:rPr lang="es-ES" sz="2400" dirty="0" err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Jameson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Heurística de Inserción Paralela de </a:t>
            </a:r>
            <a:r>
              <a:rPr lang="es-ES" sz="2400" dirty="0" err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Christofides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, </a:t>
            </a:r>
            <a:r>
              <a:rPr lang="es-ES" sz="2400" dirty="0" err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Mingozzi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 y </a:t>
            </a:r>
            <a:r>
              <a:rPr lang="es-ES" sz="2400" dirty="0" err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Toth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 (CMT).</a:t>
            </a:r>
          </a:p>
          <a:p>
            <a:pPr algn="just"/>
            <a:endParaRPr lang="es-ES" sz="2400" dirty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En la actualidad existen pocos componentes de software que apliquen heurísticas de construcción para solucionar </a:t>
            </a:r>
            <a:r>
              <a:rPr lang="es-ES" sz="2400" dirty="0" err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VRPs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</p:txBody>
      </p:sp>
      <p:grpSp>
        <p:nvGrpSpPr>
          <p:cNvPr id="24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6919" y="1569931"/>
            <a:ext cx="822960" cy="182111"/>
            <a:chOff x="6953638" y="4445973"/>
            <a:chExt cx="838167" cy="182111"/>
          </a:xfrm>
        </p:grpSpPr>
        <p:cxnSp>
          <p:nvCxnSpPr>
            <p:cNvPr id="25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9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2654740"/>
            <a:ext cx="822960" cy="182111"/>
            <a:chOff x="6953638" y="4445973"/>
            <a:chExt cx="838167" cy="182111"/>
          </a:xfrm>
        </p:grpSpPr>
        <p:cxnSp>
          <p:nvCxnSpPr>
            <p:cNvPr id="30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2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3741860"/>
            <a:ext cx="822960" cy="182111"/>
            <a:chOff x="6953638" y="4445973"/>
            <a:chExt cx="838167" cy="182111"/>
          </a:xfrm>
        </p:grpSpPr>
        <p:cxnSp>
          <p:nvCxnSpPr>
            <p:cNvPr id="33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5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6919" y="5968726"/>
            <a:ext cx="822960" cy="182111"/>
            <a:chOff x="6953638" y="4445973"/>
            <a:chExt cx="838167" cy="182111"/>
          </a:xfrm>
        </p:grpSpPr>
        <p:cxnSp>
          <p:nvCxnSpPr>
            <p:cNvPr id="36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8331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-27708" y="621782"/>
            <a:ext cx="1042144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BHCVRP y OR-Tools para solucionar </a:t>
            </a:r>
            <a:r>
              <a:rPr lang="es-ES" sz="4000" cap="none" spc="0" dirty="0" err="1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VRPs</a:t>
            </a:r>
            <a:r>
              <a:rPr lang="es-ES" sz="4000" cap="none" spc="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:</a:t>
            </a:r>
            <a:endParaRPr lang="es-ES" sz="4400" cap="none" spc="0" dirty="0">
              <a:ln w="0"/>
              <a:solidFill>
                <a:srgbClr val="07588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21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252157"/>
            <a:ext cx="10607040" cy="0"/>
          </a:xfrm>
          <a:prstGeom prst="line">
            <a:avLst/>
          </a:prstGeom>
          <a:ln w="19050">
            <a:solidFill>
              <a:srgbClr val="0758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10586301" y="1147557"/>
            <a:ext cx="182111" cy="182111"/>
          </a:xfrm>
          <a:prstGeom prst="ellipse">
            <a:avLst/>
          </a:prstGeom>
          <a:solidFill>
            <a:srgbClr val="07588F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931184774"/>
              </p:ext>
            </p:extLst>
          </p:nvPr>
        </p:nvGraphicFramePr>
        <p:xfrm>
          <a:off x="71120" y="1190428"/>
          <a:ext cx="12039600" cy="4265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/>
          <p:cNvSpPr/>
          <p:nvPr/>
        </p:nvSpPr>
        <p:spPr>
          <a:xfrm>
            <a:off x="152400" y="5609067"/>
            <a:ext cx="118770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Ambas resuelven las variantes CVRP y HFVRP, e implementan las heurísticas Algoritmo de Ahorros y CMT.</a:t>
            </a:r>
          </a:p>
        </p:txBody>
      </p:sp>
    </p:spTree>
    <p:extLst>
      <p:ext uri="{BB962C8B-B14F-4D97-AF65-F5344CB8AC3E}">
        <p14:creationId xmlns:p14="http://schemas.microsoft.com/office/powerpoint/2010/main" val="353651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>
            <a:extLst>
              <a:ext uri="{FF2B5EF4-FFF2-40B4-BE49-F238E27FC236}">
                <a16:creationId xmlns:a16="http://schemas.microsoft.com/office/drawing/2014/main" id="{764566D4-A7D8-C951-CCC1-06B266ED8662}"/>
              </a:ext>
            </a:extLst>
          </p:cNvPr>
          <p:cNvSpPr/>
          <p:nvPr/>
        </p:nvSpPr>
        <p:spPr>
          <a:xfrm>
            <a:off x="616659" y="1721581"/>
            <a:ext cx="10808749" cy="4008659"/>
          </a:xfrm>
          <a:prstGeom prst="rect">
            <a:avLst/>
          </a:prstGeom>
          <a:solidFill>
            <a:srgbClr val="07588F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447676"/>
            <a:ext cx="539282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Análisis </a:t>
            </a:r>
            <a:r>
              <a:rPr lang="es-ES" sz="400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experimental</a:t>
            </a:r>
            <a:r>
              <a:rPr lang="es-ES" sz="4000" cap="none" spc="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:</a:t>
            </a:r>
            <a:endParaRPr lang="es-ES" sz="4400" cap="none" spc="0" dirty="0">
              <a:ln w="0"/>
              <a:solidFill>
                <a:srgbClr val="07588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21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078051"/>
            <a:ext cx="9509760" cy="0"/>
          </a:xfrm>
          <a:prstGeom prst="line">
            <a:avLst/>
          </a:prstGeom>
          <a:ln w="19050">
            <a:solidFill>
              <a:srgbClr val="0758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9433474" y="973451"/>
            <a:ext cx="182111" cy="182111"/>
          </a:xfrm>
          <a:prstGeom prst="ellipse">
            <a:avLst/>
          </a:prstGeom>
          <a:solidFill>
            <a:srgbClr val="07588F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angle 26"/>
          <p:cNvSpPr/>
          <p:nvPr/>
        </p:nvSpPr>
        <p:spPr>
          <a:xfrm>
            <a:off x="914241" y="1867591"/>
            <a:ext cx="1021358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Se utilizan instancias de la literatura con un total de clientes entre 50 y 360, entre 3 y 9 vehículos, así como vehículos con capacidades entre 200 y 500.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Se tiene en cuenta el costo en distancia euclidiana, el tiempo de ejecución en segundos y la cantidad de rutas.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Para la experimentación se realizan 20 ejecuciones de las heurísticas para cada instancia con 20 evaluaciones de la función objetivo.</a:t>
            </a:r>
          </a:p>
        </p:txBody>
      </p:sp>
      <p:grpSp>
        <p:nvGrpSpPr>
          <p:cNvPr id="10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6919" y="1996651"/>
            <a:ext cx="822960" cy="182111"/>
            <a:chOff x="6953638" y="4445973"/>
            <a:chExt cx="838167" cy="182111"/>
          </a:xfrm>
        </p:grpSpPr>
        <p:cxnSp>
          <p:nvCxnSpPr>
            <p:cNvPr id="11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9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3457380"/>
            <a:ext cx="822960" cy="182111"/>
            <a:chOff x="6953638" y="4445973"/>
            <a:chExt cx="838167" cy="182111"/>
          </a:xfrm>
        </p:grpSpPr>
        <p:cxnSp>
          <p:nvCxnSpPr>
            <p:cNvPr id="20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4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4564820"/>
            <a:ext cx="822960" cy="182111"/>
            <a:chOff x="6953638" y="4445973"/>
            <a:chExt cx="838167" cy="182111"/>
          </a:xfrm>
        </p:grpSpPr>
        <p:cxnSp>
          <p:nvCxnSpPr>
            <p:cNvPr id="25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51457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464766"/>
            <a:ext cx="1162850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Resultados de prueba de </a:t>
            </a:r>
            <a:r>
              <a:rPr lang="es-ES" sz="4000" cap="none" spc="0" dirty="0" err="1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Wilcoxon</a:t>
            </a:r>
            <a:r>
              <a:rPr lang="es-ES" sz="4000" cap="none" spc="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en cuanto a</a:t>
            </a:r>
            <a:r>
              <a:rPr lang="es-ES" sz="400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</a:p>
          <a:p>
            <a:r>
              <a:rPr lang="es-ES" sz="4000" dirty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</a:t>
            </a:r>
            <a:r>
              <a:rPr lang="es-ES" sz="400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osto en distancia entre BHCVRP y OR-Tools:</a:t>
            </a:r>
            <a:endParaRPr lang="es-ES" sz="4400" cap="none" spc="0" dirty="0">
              <a:ln w="0"/>
              <a:solidFill>
                <a:srgbClr val="07588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7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674261"/>
            <a:ext cx="11521440" cy="0"/>
          </a:xfrm>
          <a:prstGeom prst="line">
            <a:avLst/>
          </a:prstGeom>
          <a:ln w="19050">
            <a:solidFill>
              <a:srgbClr val="0758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11434994" y="1569661"/>
            <a:ext cx="182111" cy="182111"/>
          </a:xfrm>
          <a:prstGeom prst="ellipse">
            <a:avLst/>
          </a:prstGeom>
          <a:solidFill>
            <a:srgbClr val="07588F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/>
          <a:srcRect l="3000" t="30000" r="54167" b="49703"/>
          <a:stretch/>
        </p:blipFill>
        <p:spPr>
          <a:xfrm>
            <a:off x="81281" y="2131160"/>
            <a:ext cx="11998960" cy="319816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35280" y="3432044"/>
            <a:ext cx="10820400" cy="327156"/>
          </a:xfrm>
          <a:prstGeom prst="rect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35280" y="4905243"/>
            <a:ext cx="10820400" cy="327156"/>
          </a:xfrm>
          <a:prstGeom prst="rect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40">
            <a:extLst>
              <a:ext uri="{FF2B5EF4-FFF2-40B4-BE49-F238E27FC236}">
                <a16:creationId xmlns:a16="http://schemas.microsoft.com/office/drawing/2014/main" id="{764566D4-A7D8-C951-CCC1-06B266ED8662}"/>
              </a:ext>
            </a:extLst>
          </p:cNvPr>
          <p:cNvSpPr/>
          <p:nvPr/>
        </p:nvSpPr>
        <p:spPr>
          <a:xfrm>
            <a:off x="606499" y="5636885"/>
            <a:ext cx="10808749" cy="977007"/>
          </a:xfrm>
          <a:prstGeom prst="rect">
            <a:avLst/>
          </a:prstGeom>
          <a:solidFill>
            <a:srgbClr val="07588F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angle 9"/>
          <p:cNvSpPr/>
          <p:nvPr/>
        </p:nvSpPr>
        <p:spPr>
          <a:xfrm>
            <a:off x="904081" y="5718243"/>
            <a:ext cx="102135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Existen diferencias significativas en cuanto a calidad de soluciones en términos de distancia, donde BHCVRP obtiene mejores resultados.</a:t>
            </a:r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</p:txBody>
      </p:sp>
      <p:grpSp>
        <p:nvGrpSpPr>
          <p:cNvPr id="11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5847303"/>
            <a:ext cx="822960" cy="182111"/>
            <a:chOff x="6953638" y="4445973"/>
            <a:chExt cx="838167" cy="182111"/>
          </a:xfrm>
        </p:grpSpPr>
        <p:cxnSp>
          <p:nvCxnSpPr>
            <p:cNvPr id="12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944830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464766"/>
            <a:ext cx="1162850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Resultados de prueba de </a:t>
            </a:r>
            <a:r>
              <a:rPr lang="es-ES" sz="4000" cap="none" spc="0" dirty="0" err="1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Wilcoxon</a:t>
            </a:r>
            <a:r>
              <a:rPr lang="es-ES" sz="4000" cap="none" spc="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en cuanto a</a:t>
            </a:r>
            <a:r>
              <a:rPr lang="es-ES" sz="400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</a:p>
          <a:p>
            <a:r>
              <a:rPr lang="es-ES" sz="4000" dirty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t</a:t>
            </a:r>
            <a:r>
              <a:rPr lang="es-ES" sz="400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iempo de ejecución entre BHCVRP y OR-Tools:</a:t>
            </a:r>
            <a:endParaRPr lang="es-ES" sz="4400" cap="none" spc="0" dirty="0">
              <a:ln w="0"/>
              <a:solidFill>
                <a:srgbClr val="07588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7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674261"/>
            <a:ext cx="11521440" cy="0"/>
          </a:xfrm>
          <a:prstGeom prst="line">
            <a:avLst/>
          </a:prstGeom>
          <a:ln w="19050">
            <a:solidFill>
              <a:srgbClr val="0758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11434994" y="1569661"/>
            <a:ext cx="182111" cy="182111"/>
          </a:xfrm>
          <a:prstGeom prst="ellipse">
            <a:avLst/>
          </a:prstGeom>
          <a:solidFill>
            <a:srgbClr val="07588F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999" t="61259" r="54084" b="18296"/>
          <a:stretch/>
        </p:blipFill>
        <p:spPr>
          <a:xfrm>
            <a:off x="169319" y="2304947"/>
            <a:ext cx="11459185" cy="307061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35280" y="3182664"/>
            <a:ext cx="10820400" cy="327156"/>
          </a:xfrm>
          <a:prstGeom prst="rect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35280" y="4637392"/>
            <a:ext cx="10820400" cy="327156"/>
          </a:xfrm>
          <a:prstGeom prst="rect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40">
            <a:extLst>
              <a:ext uri="{FF2B5EF4-FFF2-40B4-BE49-F238E27FC236}">
                <a16:creationId xmlns:a16="http://schemas.microsoft.com/office/drawing/2014/main" id="{764566D4-A7D8-C951-CCC1-06B266ED8662}"/>
              </a:ext>
            </a:extLst>
          </p:cNvPr>
          <p:cNvSpPr/>
          <p:nvPr/>
        </p:nvSpPr>
        <p:spPr>
          <a:xfrm>
            <a:off x="606499" y="5636885"/>
            <a:ext cx="10808749" cy="977007"/>
          </a:xfrm>
          <a:prstGeom prst="rect">
            <a:avLst/>
          </a:prstGeom>
          <a:solidFill>
            <a:srgbClr val="07588F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angle 9"/>
          <p:cNvSpPr/>
          <p:nvPr/>
        </p:nvSpPr>
        <p:spPr>
          <a:xfrm>
            <a:off x="904081" y="5718243"/>
            <a:ext cx="102135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Existen diferencias significativas en cuanto a tiempo de ejecución, donde OR-Tools obtiene mejores resultados.</a:t>
            </a:r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</p:txBody>
      </p:sp>
      <p:grpSp>
        <p:nvGrpSpPr>
          <p:cNvPr id="11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5847303"/>
            <a:ext cx="822960" cy="182111"/>
            <a:chOff x="6953638" y="4445973"/>
            <a:chExt cx="838167" cy="182111"/>
          </a:xfrm>
        </p:grpSpPr>
        <p:cxnSp>
          <p:nvCxnSpPr>
            <p:cNvPr id="12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319647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>
            <a:extLst>
              <a:ext uri="{FF2B5EF4-FFF2-40B4-BE49-F238E27FC236}">
                <a16:creationId xmlns:a16="http://schemas.microsoft.com/office/drawing/2014/main" id="{764566D4-A7D8-C951-CCC1-06B266ED8662}"/>
              </a:ext>
            </a:extLst>
          </p:cNvPr>
          <p:cNvSpPr/>
          <p:nvPr/>
        </p:nvSpPr>
        <p:spPr>
          <a:xfrm>
            <a:off x="616659" y="1609821"/>
            <a:ext cx="10808749" cy="4333779"/>
          </a:xfrm>
          <a:prstGeom prst="rect">
            <a:avLst/>
          </a:prstGeom>
          <a:solidFill>
            <a:srgbClr val="07588F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447676"/>
            <a:ext cx="349486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Conclusiones:</a:t>
            </a:r>
            <a:endParaRPr lang="es-ES" sz="4400" cap="none" spc="0" dirty="0">
              <a:ln w="0"/>
              <a:solidFill>
                <a:srgbClr val="07588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21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078051"/>
            <a:ext cx="9509760" cy="0"/>
          </a:xfrm>
          <a:prstGeom prst="line">
            <a:avLst/>
          </a:prstGeom>
          <a:ln w="19050">
            <a:solidFill>
              <a:srgbClr val="0758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9433474" y="973451"/>
            <a:ext cx="182111" cy="182111"/>
          </a:xfrm>
          <a:prstGeom prst="ellipse">
            <a:avLst/>
          </a:prstGeom>
          <a:solidFill>
            <a:srgbClr val="07588F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angle 26"/>
          <p:cNvSpPr/>
          <p:nvPr/>
        </p:nvSpPr>
        <p:spPr>
          <a:xfrm>
            <a:off x="914241" y="1755831"/>
            <a:ext cx="1021358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La versión del 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Algoritmo de Ahorros en su versión paralela 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implementada en BHCVRP 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obtiene 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mejores resultados para CVRP.</a:t>
            </a:r>
          </a:p>
          <a:p>
            <a:pPr algn="just"/>
            <a:endParaRPr lang="es-ES" sz="2400" dirty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Para HFVRP se recomienda 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la versión del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 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Algoritmo de Ahorros en su versión 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secuencial existente en BHCVRP.</a:t>
            </a:r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endParaRPr lang="es-ES" sz="2400" dirty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BHCVRP obtiene mejores resultados en cuanto a calidad de soluciones en términos de distancia euclidiana.</a:t>
            </a:r>
          </a:p>
          <a:p>
            <a:pPr algn="just"/>
            <a:endParaRPr lang="es-ES" sz="2400" dirty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OR-Tools obtiene menores tiempos de 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ejecución para todos los casos.</a:t>
            </a:r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</p:txBody>
      </p:sp>
      <p:grpSp>
        <p:nvGrpSpPr>
          <p:cNvPr id="10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6919" y="1884891"/>
            <a:ext cx="822960" cy="182111"/>
            <a:chOff x="6953638" y="4445973"/>
            <a:chExt cx="838167" cy="182111"/>
          </a:xfrm>
        </p:grpSpPr>
        <p:cxnSp>
          <p:nvCxnSpPr>
            <p:cNvPr id="11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6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2969700"/>
            <a:ext cx="822960" cy="182111"/>
            <a:chOff x="6953638" y="4445973"/>
            <a:chExt cx="838167" cy="182111"/>
          </a:xfrm>
        </p:grpSpPr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9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4056820"/>
            <a:ext cx="822960" cy="182111"/>
            <a:chOff x="6953638" y="4445973"/>
            <a:chExt cx="838167" cy="182111"/>
          </a:xfrm>
        </p:grpSpPr>
        <p:cxnSp>
          <p:nvCxnSpPr>
            <p:cNvPr id="20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4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5154100"/>
            <a:ext cx="822960" cy="182111"/>
            <a:chOff x="6953638" y="4445973"/>
            <a:chExt cx="838167" cy="182111"/>
          </a:xfrm>
        </p:grpSpPr>
        <p:cxnSp>
          <p:nvCxnSpPr>
            <p:cNvPr id="25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0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1884891"/>
            <a:ext cx="822960" cy="182111"/>
            <a:chOff x="6953638" y="4445973"/>
            <a:chExt cx="838167" cy="182111"/>
          </a:xfrm>
        </p:grpSpPr>
        <p:cxnSp>
          <p:nvCxnSpPr>
            <p:cNvPr id="31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758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7588F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53706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4D31BF8-0A2C-08A1-04E2-7FB25DB88CB8}"/>
              </a:ext>
            </a:extLst>
          </p:cNvPr>
          <p:cNvSpPr/>
          <p:nvPr/>
        </p:nvSpPr>
        <p:spPr>
          <a:xfrm>
            <a:off x="734635" y="2916296"/>
            <a:ext cx="106506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just"/>
            <a:r>
              <a:rPr lang="es-ES" sz="440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Comparación entre BHCVRP y OR-Tools</a:t>
            </a:r>
            <a:endParaRPr lang="es-ES" sz="4400" b="0" cap="none" spc="0" dirty="0" smtClean="0">
              <a:ln w="0"/>
              <a:solidFill>
                <a:srgbClr val="07588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4952FE-20FB-B49E-D6E1-CB06CB134265}"/>
              </a:ext>
            </a:extLst>
          </p:cNvPr>
          <p:cNvSpPr txBox="1"/>
          <p:nvPr/>
        </p:nvSpPr>
        <p:spPr>
          <a:xfrm>
            <a:off x="3087600" y="4037134"/>
            <a:ext cx="594474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		</a:t>
            </a:r>
            <a:endParaRPr lang="es-ES" b="1" dirty="0"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algn="ctr"/>
            <a:r>
              <a:rPr lang="es-ES" sz="26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Autores: </a:t>
            </a:r>
          </a:p>
          <a:p>
            <a:pPr algn="ctr"/>
            <a:r>
              <a:rPr lang="es-ES" sz="2600" b="1" dirty="0" err="1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Ananda</a:t>
            </a:r>
            <a:r>
              <a:rPr lang="es-ES" sz="26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s-ES" sz="2600" b="1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de la C. Morales </a:t>
            </a:r>
            <a:r>
              <a:rPr lang="es-ES" sz="2600" b="1" dirty="0" err="1">
                <a:latin typeface="Yu Gothic Light" panose="020B0300000000000000" pitchFamily="34" charset="-128"/>
                <a:ea typeface="Yu Gothic Light" panose="020B0300000000000000" pitchFamily="34" charset="-128"/>
              </a:rPr>
              <a:t>Morales</a:t>
            </a:r>
            <a:r>
              <a:rPr lang="es-ES" sz="2600" b="1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     </a:t>
            </a:r>
            <a:r>
              <a:rPr lang="es-ES" sz="26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                                 </a:t>
            </a:r>
          </a:p>
          <a:p>
            <a:pPr algn="ctr"/>
            <a:r>
              <a:rPr lang="es-ES" sz="26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Dayana Vázquez Rodríguez</a:t>
            </a:r>
            <a:endParaRPr lang="es-ES" sz="2600" b="1" dirty="0"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algn="ctr"/>
            <a:r>
              <a:rPr lang="es-ES" sz="26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Isis </a:t>
            </a:r>
            <a:r>
              <a:rPr lang="es-ES" sz="26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Torres Pérez</a:t>
            </a:r>
          </a:p>
          <a:p>
            <a:pPr algn="ctr"/>
            <a:r>
              <a:rPr lang="es-ES" sz="26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Alejandro </a:t>
            </a:r>
            <a:r>
              <a:rPr lang="es-ES" sz="26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Rosete Suárez</a:t>
            </a:r>
          </a:p>
        </p:txBody>
      </p:sp>
      <p:cxnSp>
        <p:nvCxnSpPr>
          <p:cNvPr id="9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 flipV="1">
            <a:off x="645022" y="3657600"/>
            <a:ext cx="10881360" cy="28137"/>
          </a:xfrm>
          <a:prstGeom prst="line">
            <a:avLst/>
          </a:prstGeom>
          <a:ln w="19050">
            <a:solidFill>
              <a:srgbClr val="0758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11474920" y="3566544"/>
            <a:ext cx="182111" cy="182111"/>
          </a:xfrm>
          <a:prstGeom prst="ellipse">
            <a:avLst/>
          </a:prstGeom>
          <a:solidFill>
            <a:srgbClr val="07588F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6">
            <a:extLst>
              <a:ext uri="{FF2B5EF4-FFF2-40B4-BE49-F238E27FC236}">
                <a16:creationId xmlns:a16="http://schemas.microsoft.com/office/drawing/2014/main" id="{34D31BF8-0A2C-08A1-04E2-7FB25DB88CB8}"/>
              </a:ext>
            </a:extLst>
          </p:cNvPr>
          <p:cNvSpPr/>
          <p:nvPr/>
        </p:nvSpPr>
        <p:spPr>
          <a:xfrm>
            <a:off x="829213" y="595781"/>
            <a:ext cx="1046151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just"/>
            <a:r>
              <a:rPr lang="es-ES" sz="440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VI Congreso de Ingeniería Informática </a:t>
            </a:r>
          </a:p>
          <a:p>
            <a:pPr algn="just"/>
            <a:r>
              <a:rPr lang="es-ES" sz="4400" dirty="0" smtClean="0">
                <a:ln w="0"/>
                <a:solidFill>
                  <a:srgbClr val="07588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y Sistemas de Información (CIIISI’2024)</a:t>
            </a:r>
            <a:endParaRPr lang="es-ES" sz="4400" b="0" cap="none" spc="0" dirty="0" smtClean="0">
              <a:ln w="0"/>
              <a:solidFill>
                <a:srgbClr val="07588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8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523609" y="3589848"/>
            <a:ext cx="182111" cy="182111"/>
          </a:xfrm>
          <a:prstGeom prst="ellipse">
            <a:avLst/>
          </a:prstGeom>
          <a:solidFill>
            <a:srgbClr val="07588F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7693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477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Yu Gothic</vt:lpstr>
      <vt:lpstr>Yu Gothic Light</vt:lpstr>
      <vt:lpstr>Yu Gothic Medium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Nanda</dc:creator>
  <cp:lastModifiedBy>Nanda</cp:lastModifiedBy>
  <cp:revision>38</cp:revision>
  <dcterms:created xsi:type="dcterms:W3CDTF">2024-11-24T23:29:33Z</dcterms:created>
  <dcterms:modified xsi:type="dcterms:W3CDTF">2024-11-26T03:04:19Z</dcterms:modified>
</cp:coreProperties>
</file>