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74" r:id="rId16"/>
    <p:sldId id="275" r:id="rId17"/>
    <p:sldId id="276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184EFD-66E1-450B-AA91-31762CB4201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E98DC9-051E-4BD1-A891-5463D3C8D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8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0318D-30A7-4A4D-8986-A1675B5ECAE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23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E98DC9-051E-4BD1-A891-5463D3C8D0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97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8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08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8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1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9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89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AF784-258C-42CB-8B8B-FCCCA18732E9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68F48-E69B-42C7-B62A-B78A5A8C8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05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1557775" y="1663913"/>
            <a:ext cx="9004388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Nueva versión de la Biblioteca de </a:t>
            </a:r>
          </a:p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Heurísticas de Construcción para </a:t>
            </a:r>
          </a:p>
          <a:p>
            <a:pPr algn="ctr"/>
            <a:r>
              <a:rPr lang="es-ES" sz="4400" b="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Problemas de Planificación de</a:t>
            </a:r>
          </a:p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Rutas de Vehículos</a:t>
            </a:r>
            <a:endParaRPr lang="es-ES" sz="4400" b="0" cap="none" spc="0" dirty="0" smtClean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4952FE-20FB-B49E-D6E1-CB06CB134265}"/>
              </a:ext>
            </a:extLst>
          </p:cNvPr>
          <p:cNvSpPr txBox="1"/>
          <p:nvPr/>
        </p:nvSpPr>
        <p:spPr>
          <a:xfrm>
            <a:off x="3087600" y="4221855"/>
            <a:ext cx="59447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		</a:t>
            </a:r>
            <a:endParaRPr lang="es-ES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Autor: </a:t>
            </a:r>
            <a:endParaRPr lang="es-ES" sz="2400" b="1" dirty="0" smtClean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err="1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Ananda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s-ES" sz="24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de la C. Morales </a:t>
            </a:r>
            <a:r>
              <a:rPr lang="es-ES" sz="2400" b="1" dirty="0" err="1">
                <a:latin typeface="Yu Gothic Light" panose="020B0300000000000000" pitchFamily="34" charset="-128"/>
                <a:ea typeface="Yu Gothic Light" panose="020B0300000000000000" pitchFamily="34" charset="-128"/>
              </a:rPr>
              <a:t>Morales</a:t>
            </a:r>
            <a:r>
              <a:rPr lang="es-ES" sz="24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                            </a:t>
            </a:r>
          </a:p>
          <a:p>
            <a:pPr algn="ctr"/>
            <a:endParaRPr lang="es-ES" sz="2400" b="1" dirty="0" smtClean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Tutores:</a:t>
            </a:r>
            <a:endParaRPr lang="es-ES" sz="2400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Dr. C. Isis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Torres Pérez</a:t>
            </a: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Dr. C. Alejandro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Rosete Suárez</a:t>
            </a:r>
          </a:p>
        </p:txBody>
      </p:sp>
      <p:cxnSp>
        <p:nvCxnSpPr>
          <p:cNvPr id="9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 flipV="1">
            <a:off x="645022" y="4350321"/>
            <a:ext cx="10881360" cy="28137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74920" y="4259265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6536"/>
              </a:solidFill>
            </a:endParaRPr>
          </a:p>
        </p:txBody>
      </p:sp>
      <p:sp>
        <p:nvSpPr>
          <p:cNvPr id="6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2171725" y="41486"/>
            <a:ext cx="777648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Jornada Científica Estudiantil</a:t>
            </a:r>
            <a:endParaRPr lang="es-ES" sz="4400" b="0" cap="none" spc="0" dirty="0" smtClean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523609" y="4282569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6536"/>
              </a:solidFill>
            </a:endParaRPr>
          </a:p>
        </p:txBody>
      </p:sp>
      <p:pic>
        <p:nvPicPr>
          <p:cNvPr id="10" name="Imagen 114" descr="Descripción: cujae-logo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482" y="810927"/>
            <a:ext cx="688975" cy="73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963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-27708" y="621782"/>
            <a:ext cx="1184811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Problema de Planificación de Rutas de Vehículos: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252157"/>
            <a:ext cx="1170432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703901" y="1147557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380086"/>
            <a:ext cx="7592621" cy="5345833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 21"/>
          <p:cNvSpPr/>
          <p:nvPr/>
        </p:nvSpPr>
        <p:spPr>
          <a:xfrm>
            <a:off x="789557" y="1457596"/>
            <a:ext cx="717454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Complejos de resolver para instancias con un número de clientes elevado.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Pertenecen a la clase de problemas NP-duro.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proponen modelos básicos extendidos a diferentes campos de la logística y el transporte.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Dentro de las variantes clásicas se encuentra: VRP con capacidades (CVRP), VRP con flota heterogénea (HFVRP), entre otros.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Como alternativa de solución se aplican algoritmos heurísticos.</a:t>
            </a:r>
          </a:p>
        </p:txBody>
      </p: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55977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2675060"/>
            <a:ext cx="822960" cy="182111"/>
            <a:chOff x="6953638" y="4445973"/>
            <a:chExt cx="838167" cy="182111"/>
          </a:xfrm>
        </p:grpSpPr>
        <p:cxnSp>
          <p:nvCxnSpPr>
            <p:cNvPr id="3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416740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33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5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524180"/>
            <a:ext cx="822960" cy="182111"/>
            <a:chOff x="6953638" y="4445973"/>
            <a:chExt cx="838167" cy="182111"/>
          </a:xfrm>
        </p:grpSpPr>
        <p:cxnSp>
          <p:nvCxnSpPr>
            <p:cNvPr id="36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38" name="Picture 3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0" t="1922" r="4843" b="3151"/>
          <a:stretch/>
        </p:blipFill>
        <p:spPr>
          <a:xfrm>
            <a:off x="8273669" y="2316480"/>
            <a:ext cx="3895225" cy="2712719"/>
          </a:xfrm>
          <a:prstGeom prst="rect">
            <a:avLst/>
          </a:prstGeom>
        </p:spPr>
      </p:pic>
      <p:grpSp>
        <p:nvGrpSpPr>
          <p:cNvPr id="3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987220"/>
            <a:ext cx="822960" cy="182111"/>
            <a:chOff x="6953638" y="4445973"/>
            <a:chExt cx="838167" cy="182111"/>
          </a:xfrm>
        </p:grpSpPr>
        <p:cxnSp>
          <p:nvCxnSpPr>
            <p:cNvPr id="4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6706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-27708" y="540502"/>
            <a:ext cx="691086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Heurísticas de construcción: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170877"/>
            <a:ext cx="832104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8208861" y="1066277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386301"/>
            <a:ext cx="11118141" cy="5309139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angle 21"/>
          <p:cNvSpPr/>
          <p:nvPr/>
        </p:nvSpPr>
        <p:spPr>
          <a:xfrm>
            <a:off x="914240" y="1440871"/>
            <a:ext cx="1069863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Brindan soluciones satisfactorias a un problema dado mediante algoritmos específicos.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 encargan de construir literalmente una solución del problema, paso a paso.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Dentro de las clásicas de la literatura para resolver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VRPs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se encuentran: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Ahorros.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Algoritmo de Barrido.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Heurística de Inserción de Mole &amp;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Jameson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Heurística de Inserción Paralela de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Christofides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,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Mingozzi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y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Toth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(CMT).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En la actualidad existen pocos componentes de software que apliquen heurísticas de construcción para solucionar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VRPs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56993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2654740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3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2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741860"/>
            <a:ext cx="822960" cy="182111"/>
            <a:chOff x="6953638" y="4445973"/>
            <a:chExt cx="838167" cy="182111"/>
          </a:xfrm>
        </p:grpSpPr>
        <p:cxnSp>
          <p:nvCxnSpPr>
            <p:cNvPr id="33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5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5968726"/>
            <a:ext cx="822960" cy="182111"/>
            <a:chOff x="6953638" y="4445973"/>
            <a:chExt cx="838167" cy="182111"/>
          </a:xfrm>
        </p:grpSpPr>
        <p:cxnSp>
          <p:nvCxnSpPr>
            <p:cNvPr id="36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09445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115018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Componentes de software para solucionar 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16811"/>
            <a:ext cx="1161288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631244" y="121221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3000" t="23926" r="6167" b="17260"/>
          <a:stretch/>
        </p:blipFill>
        <p:spPr>
          <a:xfrm>
            <a:off x="135826" y="1524000"/>
            <a:ext cx="11945338" cy="519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2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756547"/>
            <a:ext cx="10808749" cy="4514942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242566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BHCVRP: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0" y="1289102"/>
            <a:ext cx="347472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3411354" y="121221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6536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14241" y="1902680"/>
            <a:ext cx="102135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Desarrollada en Java, por el proyecto de Optimización y </a:t>
            </a:r>
            <a:r>
              <a:rPr lang="es-ES" sz="2400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Metaheurísticas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de la Facultad de Ingeniería Informática de la CUJAE en 2016.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Adapta siete heurísticas de construcción de la literatura para las variantes CVRP, MDVRP, HFVRP y TTRP.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Presenta las siguientes deficiencias: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Diseño arquitectónico.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Código fuente relacionado con las heurísticas implementadas.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Dificultades en la interoperabilidad con otros componentes.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2032085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3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0" y="3486324"/>
            <a:ext cx="822960" cy="182111"/>
            <a:chOff x="6953638" y="4445973"/>
            <a:chExt cx="838167" cy="182111"/>
          </a:xfrm>
        </p:grpSpPr>
        <p:cxnSp>
          <p:nvCxnSpPr>
            <p:cNvPr id="14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2301" y="4576708"/>
            <a:ext cx="822960" cy="182111"/>
            <a:chOff x="6953638" y="4445973"/>
            <a:chExt cx="838167" cy="182111"/>
          </a:xfrm>
        </p:grpSpPr>
        <p:cxnSp>
          <p:nvCxnSpPr>
            <p:cNvPr id="2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58552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2414272"/>
            <a:ext cx="10808749" cy="2622948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42017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Objetivo general: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1681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1221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2560405"/>
            <a:ext cx="102135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Desarrollar una nueva versión de BHCVRP en Java y Python, que permita incorporar otras heurísticas de construcción de la literatura para diferentes variantes de problemas de planificación de rutas de vehículos.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2802104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473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797846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Arquitectura de la nueva versión: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14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1681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1221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5417" t="25555" r="28750" b="17407"/>
          <a:stretch/>
        </p:blipFill>
        <p:spPr>
          <a:xfrm>
            <a:off x="1394694" y="1406873"/>
            <a:ext cx="9402618" cy="540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41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106266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Diagrama de clases del paquete </a:t>
            </a:r>
            <a:r>
              <a:rPr lang="es-ES" sz="4000" i="1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exceptions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14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16811"/>
            <a:ext cx="1051560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0449472" y="1221447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" t="7992" r="769" b="2732"/>
          <a:stretch/>
        </p:blipFill>
        <p:spPr bwMode="auto">
          <a:xfrm>
            <a:off x="1200728" y="2024697"/>
            <a:ext cx="8996218" cy="40399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5515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206146"/>
            <a:ext cx="87046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Patrón de diseño </a:t>
            </a:r>
            <a:r>
              <a:rPr lang="es-ES" sz="4000" i="1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Template</a:t>
            </a:r>
            <a:r>
              <a:rPr lang="es-ES" sz="4000" i="1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lang="es-ES" sz="4000" i="1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Method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83652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73192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" t="3971" r="593" b="1314"/>
          <a:stretch/>
        </p:blipFill>
        <p:spPr bwMode="auto">
          <a:xfrm>
            <a:off x="110836" y="988291"/>
            <a:ext cx="11896437" cy="58697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3200" y="1579419"/>
            <a:ext cx="1422400" cy="29556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08034" y="1708727"/>
            <a:ext cx="1528619" cy="94210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3200" y="2604655"/>
            <a:ext cx="1422400" cy="1385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7780" y="3472873"/>
            <a:ext cx="1422400" cy="1385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0908" y="4227945"/>
            <a:ext cx="1533236" cy="6858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276764" y="4872180"/>
            <a:ext cx="1482436" cy="69734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712691" y="1475134"/>
            <a:ext cx="1482436" cy="72312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47854" y="3890816"/>
            <a:ext cx="1422400" cy="26554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872342" y="5962073"/>
            <a:ext cx="1475511" cy="6973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135089" y="3853872"/>
            <a:ext cx="1463966" cy="66271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1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8653" y="1745671"/>
            <a:ext cx="10808749" cy="4645891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86436"/>
            <a:ext cx="539282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Análisis experimental: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1681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1221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1884216"/>
            <a:ext cx="102135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validar el funcionamiento de la nueva versión de BHCVRP, se decide realizar los siguientes experimentos: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Ej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ecutar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las nueve heurísticas implementadas en Python, para analizar su funcionamiento en las cuatro variantes VRP.</a:t>
            </a:r>
          </a:p>
          <a:p>
            <a:pPr marL="457200" indent="-457200" algn="just">
              <a:buFont typeface="+mj-lt"/>
              <a:buAutoNum type="arabicPeriod"/>
            </a:pP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mparación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 los resultados actuales obtenidos en Python con los resultados de la versión anterior en Java, teniendo en cuenta siete heurísticas.</a:t>
            </a:r>
          </a:p>
          <a:p>
            <a:pPr marL="457200" indent="-457200" algn="just">
              <a:buFont typeface="+mj-lt"/>
              <a:buAutoNum type="arabicPeriod"/>
            </a:pP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omparación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 los mejores resultados obtenidos en BHCVRP con los resultados de OR-Tools para las variantes CVRP y HFVRP.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2006810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10007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721581"/>
            <a:ext cx="10808749" cy="4008659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47676"/>
            <a:ext cx="539282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Análisis experimental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7805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7345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1867591"/>
            <a:ext cx="102135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utilizan instancias de la literatura con un total de clientes entre 50 y 360, entre 3 y 9 vehículos, así como vehículos con capacidades entre 200 y 500.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Se tiene en cuenta el costo en distancia euclidiana, el tiempo de ejecución en segundos y la cantidad de rutas.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la experimentación se realizan 20 ejecuciones de las heurísticas para cada instancia con 20 evaluaciones de la función objetivo.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99665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457380"/>
            <a:ext cx="822960" cy="182111"/>
            <a:chOff x="6953638" y="4445973"/>
            <a:chExt cx="838167" cy="182111"/>
          </a:xfrm>
        </p:grpSpPr>
        <p:cxnSp>
          <p:nvCxnSpPr>
            <p:cNvPr id="2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4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564820"/>
            <a:ext cx="822960" cy="182111"/>
            <a:chOff x="6953638" y="4445973"/>
            <a:chExt cx="838167" cy="182111"/>
          </a:xfrm>
        </p:grpSpPr>
        <p:cxnSp>
          <p:nvCxnSpPr>
            <p:cNvPr id="25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8701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381637"/>
            <a:ext cx="87511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 prueba 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de Friedman: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12012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07412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666" t="32370" r="29917" b="30592"/>
          <a:stretch/>
        </p:blipFill>
        <p:spPr>
          <a:xfrm>
            <a:off x="1136913" y="1498227"/>
            <a:ext cx="9595741" cy="482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159966"/>
            <a:ext cx="97145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para </a:t>
            </a:r>
          </a:p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CVRP 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 las versiones de BHCVRP: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6946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6486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167" t="26593" r="19750" b="23926"/>
          <a:stretch/>
        </p:blipFill>
        <p:spPr>
          <a:xfrm>
            <a:off x="365760" y="1588005"/>
            <a:ext cx="11353800" cy="5090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0400" y="5608319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0400" y="6251444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159966"/>
            <a:ext cx="97145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para </a:t>
            </a:r>
          </a:p>
          <a:p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HF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VRP 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 las versiones de BHCVRP: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6946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6486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7334" t="28222" r="18750" b="21852"/>
          <a:stretch/>
        </p:blipFill>
        <p:spPr>
          <a:xfrm>
            <a:off x="185420" y="1551572"/>
            <a:ext cx="11689080" cy="513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9440" y="2250111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2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159966"/>
            <a:ext cx="97145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para </a:t>
            </a:r>
          </a:p>
          <a:p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MD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VRP 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 las versiones de BHCVRP: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6946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6486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7000" t="25852" r="18333" b="23185"/>
          <a:stretch/>
        </p:blipFill>
        <p:spPr>
          <a:xfrm>
            <a:off x="142240" y="1446972"/>
            <a:ext cx="11826240" cy="52425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2184399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6760" y="2865072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40080" y="3545745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7040" y="4226418"/>
            <a:ext cx="1081024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40080" y="5513424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0400" y="6180324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159966"/>
            <a:ext cx="9714519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para </a:t>
            </a:r>
            <a:endParaRPr lang="es-ES" sz="4000" cap="none" spc="0" dirty="0" smtClean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TT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RP 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 las versiones de BHCVRP: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36946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26486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7667" t="25704" r="18916" b="24519"/>
          <a:stretch/>
        </p:blipFill>
        <p:spPr>
          <a:xfrm>
            <a:off x="259080" y="1551572"/>
            <a:ext cx="11597640" cy="51206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9440" y="2250111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9440" y="2918170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22960" y="6242991"/>
            <a:ext cx="10617200" cy="3017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0720" y="5574384"/>
            <a:ext cx="10617200" cy="2844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8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64766"/>
            <a:ext cx="11628504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Resultados de prueba de </a:t>
            </a:r>
            <a:r>
              <a:rPr lang="es-ES" sz="4000" cap="none" spc="0" dirty="0" err="1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Wilcoxon</a:t>
            </a:r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en cuanto a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</a:p>
          <a:p>
            <a:r>
              <a:rPr lang="es-ES" sz="4000" dirty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</a:t>
            </a:r>
            <a:r>
              <a:rPr lang="es-ES" sz="40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osto en distancia entre BHCVRP y OR-Tools: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7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674261"/>
            <a:ext cx="1152144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34994" y="156966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/>
          <a:srcRect l="3000" t="30000" r="54167" b="49703"/>
          <a:stretch/>
        </p:blipFill>
        <p:spPr>
          <a:xfrm>
            <a:off x="81281" y="2131160"/>
            <a:ext cx="11998960" cy="319816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5280" y="3432044"/>
            <a:ext cx="10820400" cy="3271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6536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5280" y="4905243"/>
            <a:ext cx="10820400" cy="327156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06499" y="5636885"/>
            <a:ext cx="10808749" cy="977007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angle 9"/>
          <p:cNvSpPr/>
          <p:nvPr/>
        </p:nvSpPr>
        <p:spPr>
          <a:xfrm>
            <a:off x="904081" y="5718243"/>
            <a:ext cx="1021358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Existen diferencias significativas en cuanto a calidad de soluciones en términos de distancia, donde BHCVRP obtiene mejores resultados.</a:t>
            </a:r>
          </a:p>
        </p:txBody>
      </p:sp>
      <p:grpSp>
        <p:nvGrpSpPr>
          <p:cNvPr id="11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847303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2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12182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609821"/>
            <a:ext cx="10808749" cy="4770659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447676"/>
            <a:ext cx="34948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Conclusiones: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7805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7345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1" y="1755831"/>
            <a:ext cx="102135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nueva versión propone: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rquitectura n-capas con enfoque basado en reutilización.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Incorporación del patrón de diseño </a:t>
            </a:r>
            <a:r>
              <a:rPr lang="es-ES" sz="2400" i="1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Template</a:t>
            </a:r>
            <a:r>
              <a:rPr lang="es-ES" sz="2400" i="1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</a:t>
            </a:r>
            <a:r>
              <a:rPr lang="es-ES" sz="2400" i="1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Method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Paquete de excepciones propias.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Incorporación de dos nuevas adaptaciones de las heurísticas: </a:t>
            </a:r>
            <a:r>
              <a:rPr lang="es-ES" sz="2400" i="1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Kilby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y </a:t>
            </a:r>
            <a:r>
              <a:rPr lang="es-ES" sz="2400" i="1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SaveMatch</a:t>
            </a:r>
            <a:r>
              <a:rPr lang="es-ES" sz="2400" i="1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heurística que propone mejores costos en distancia es </a:t>
            </a:r>
            <a:r>
              <a:rPr lang="es-ES" sz="2400" i="1" dirty="0" err="1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SaveParall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para las variantes CVRP y TTRP.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Para las variantes HFVRP y MDVRP obtiene mejores costos en distancia la heurística </a:t>
            </a:r>
            <a:r>
              <a:rPr lang="es-ES" sz="2400" i="1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MJ,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a pesar de ser la más costosa en tiempo.</a:t>
            </a: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1884891"/>
            <a:ext cx="822960" cy="182111"/>
            <a:chOff x="6953638" y="4445973"/>
            <a:chExt cx="838167" cy="182111"/>
          </a:xfrm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solidFill>
              <a:srgbClr val="006536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447980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9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5535100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20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44351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1884142"/>
            <a:ext cx="11290861" cy="3911342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386716"/>
            <a:ext cx="34948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Conclusiones: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01709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91249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0" y="2009831"/>
            <a:ext cx="108713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heurística que obtiene mejor tiempo de ejecución es </a:t>
            </a:r>
            <a:r>
              <a:rPr lang="es-ES" sz="2400" i="1" dirty="0" err="1">
                <a:latin typeface="Yu Gothic Medium" panose="020B0500000000000000" pitchFamily="34" charset="-128"/>
                <a:ea typeface="Yu Gothic Medium" panose="020B0500000000000000" pitchFamily="34" charset="-128"/>
              </a:rPr>
              <a:t>Random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, pero con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los 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peores 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costos en distancia.</a:t>
            </a:r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 nueva versión presenta diferencias significativas con respecto a la anterior en los costos en distancia de MDVRP desfavorablemente, mientras que en TTRP mejoran. 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Las variantes CVRP y HFVRP se mantienen similares en ambas versiones de BHCVRP.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215921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3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24633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4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70937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03091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>
            <a:extLst>
              <a:ext uri="{FF2B5EF4-FFF2-40B4-BE49-F238E27FC236}">
                <a16:creationId xmlns:a16="http://schemas.microsoft.com/office/drawing/2014/main" id="{764566D4-A7D8-C951-CCC1-06B266ED8662}"/>
              </a:ext>
            </a:extLst>
          </p:cNvPr>
          <p:cNvSpPr/>
          <p:nvPr/>
        </p:nvSpPr>
        <p:spPr>
          <a:xfrm>
            <a:off x="616659" y="2239741"/>
            <a:ext cx="11290861" cy="3388899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9F12BD-6258-7C3A-B7B2-A0059803F00F}"/>
              </a:ext>
            </a:extLst>
          </p:cNvPr>
          <p:cNvSpPr/>
          <p:nvPr/>
        </p:nvSpPr>
        <p:spPr>
          <a:xfrm>
            <a:off x="0" y="650876"/>
            <a:ext cx="34948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s-ES" sz="400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Conclusiones:</a:t>
            </a:r>
            <a:endParaRPr lang="es-ES" sz="4400" cap="none" spc="0" dirty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cxnSp>
        <p:nvCxnSpPr>
          <p:cNvPr id="21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>
            <a:off x="6919" y="1281251"/>
            <a:ext cx="9509760" cy="0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9433474" y="1176651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angle 26"/>
          <p:cNvSpPr/>
          <p:nvPr/>
        </p:nvSpPr>
        <p:spPr>
          <a:xfrm>
            <a:off x="914240" y="2365431"/>
            <a:ext cx="108713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En cuanto al tiempo de ejecución la versión de BHCVRP en Java es más rápida</a:t>
            </a:r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De 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manera general, la heurística </a:t>
            </a:r>
            <a:r>
              <a:rPr lang="es-ES" sz="2400" i="1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CMT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obtiene mejores resultados con respecto a la anterior, mientras que para </a:t>
            </a:r>
            <a:r>
              <a:rPr lang="es-ES" sz="2400" i="1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NN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 son desfavorables.</a:t>
            </a:r>
          </a:p>
          <a:p>
            <a:pPr algn="just"/>
            <a:endParaRPr lang="es-ES" sz="2400" dirty="0" smtClean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r>
              <a:rPr lang="es-ES" sz="2400" dirty="0" smtClean="0">
                <a:latin typeface="Yu Gothic Medium" panose="020B0500000000000000" pitchFamily="34" charset="-128"/>
                <a:ea typeface="Yu Gothic Medium" panose="020B0500000000000000" pitchFamily="34" charset="-128"/>
              </a:rPr>
              <a:t>Con </a:t>
            </a:r>
            <a:r>
              <a:rPr lang="es-ES" sz="2400" dirty="0">
                <a:latin typeface="Yu Gothic Medium" panose="020B0500000000000000" pitchFamily="34" charset="-128"/>
                <a:ea typeface="Yu Gothic Medium" panose="020B0500000000000000" pitchFamily="34" charset="-128"/>
              </a:rPr>
              <a:t>respecto a OR-Tools este presenta mejores tiempos, mientras que BHCVRP propone soluciones con notablemente mejor calidad.</a:t>
            </a: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  <a:p>
            <a:pPr algn="just"/>
            <a:endParaRPr lang="es-ES" sz="240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grpSp>
        <p:nvGrpSpPr>
          <p:cNvPr id="10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6919" y="251481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1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3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360193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4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6" name="Grupo 14">
            <a:extLst>
              <a:ext uri="{FF2B5EF4-FFF2-40B4-BE49-F238E27FC236}">
                <a16:creationId xmlns:a16="http://schemas.microsoft.com/office/drawing/2014/main" id="{A67397D6-FC89-7F6A-839B-A610FFBB2797}"/>
              </a:ext>
            </a:extLst>
          </p:cNvPr>
          <p:cNvGrpSpPr/>
          <p:nvPr/>
        </p:nvGrpSpPr>
        <p:grpSpPr>
          <a:xfrm>
            <a:off x="-3241" y="4709371"/>
            <a:ext cx="822960" cy="182111"/>
            <a:chOff x="6953638" y="4445973"/>
            <a:chExt cx="838167" cy="182111"/>
          </a:xfrm>
          <a:solidFill>
            <a:srgbClr val="006536"/>
          </a:solidFill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0A5C685-E731-C033-D35E-E59EF5E82A3C}"/>
                </a:ext>
              </a:extLst>
            </p:cNvPr>
            <p:cNvCxnSpPr>
              <a:cxnSpLocks/>
            </p:cNvCxnSpPr>
            <p:nvPr/>
          </p:nvCxnSpPr>
          <p:spPr>
            <a:xfrm>
              <a:off x="6953638" y="4537029"/>
              <a:ext cx="731520" cy="0"/>
            </a:xfrm>
            <a:prstGeom prst="line">
              <a:avLst/>
            </a:prstGeom>
            <a:grpFill/>
            <a:ln w="19050">
              <a:solidFill>
                <a:srgbClr val="00653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3A6E7A0C-30A7-7917-C4C6-A68807871480}"/>
                </a:ext>
              </a:extLst>
            </p:cNvPr>
            <p:cNvSpPr/>
            <p:nvPr/>
          </p:nvSpPr>
          <p:spPr>
            <a:xfrm>
              <a:off x="7609694" y="4445973"/>
              <a:ext cx="182111" cy="182111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5027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1557775" y="1663913"/>
            <a:ext cx="9004388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Nueva versión de la Biblioteca de </a:t>
            </a:r>
          </a:p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Heurísticas de Construcción para </a:t>
            </a:r>
          </a:p>
          <a:p>
            <a:pPr algn="ctr"/>
            <a:r>
              <a:rPr lang="es-ES" sz="4400" b="0" cap="none" spc="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Problemas de Planificación de</a:t>
            </a:r>
          </a:p>
          <a:p>
            <a:pPr algn="ctr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Rutas de Vehículos</a:t>
            </a:r>
            <a:endParaRPr lang="es-ES" sz="4400" b="0" cap="none" spc="0" dirty="0" smtClean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4952FE-20FB-B49E-D6E1-CB06CB134265}"/>
              </a:ext>
            </a:extLst>
          </p:cNvPr>
          <p:cNvSpPr txBox="1"/>
          <p:nvPr/>
        </p:nvSpPr>
        <p:spPr>
          <a:xfrm>
            <a:off x="3087600" y="4221855"/>
            <a:ext cx="59447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		</a:t>
            </a:r>
            <a:endParaRPr lang="es-ES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Autor: </a:t>
            </a:r>
            <a:endParaRPr lang="es-ES" sz="2400" b="1" dirty="0" smtClean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err="1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Ananda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</a:t>
            </a:r>
            <a:r>
              <a:rPr lang="es-ES" sz="24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de la C. Morales </a:t>
            </a:r>
            <a:r>
              <a:rPr lang="es-ES" sz="2400" b="1" dirty="0" err="1">
                <a:latin typeface="Yu Gothic Light" panose="020B0300000000000000" pitchFamily="34" charset="-128"/>
                <a:ea typeface="Yu Gothic Light" panose="020B0300000000000000" pitchFamily="34" charset="-128"/>
              </a:rPr>
              <a:t>Morales</a:t>
            </a:r>
            <a:r>
              <a:rPr lang="es-ES" sz="2400" b="1" dirty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                                 </a:t>
            </a:r>
          </a:p>
          <a:p>
            <a:pPr algn="ctr"/>
            <a:endParaRPr lang="es-ES" sz="2400" b="1" dirty="0" smtClean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Tutores:</a:t>
            </a:r>
            <a:endParaRPr lang="es-ES" sz="2400" b="1" dirty="0">
              <a:latin typeface="Yu Gothic Light" panose="020B0300000000000000" pitchFamily="34" charset="-128"/>
              <a:ea typeface="Yu Gothic Light" panose="020B0300000000000000" pitchFamily="34" charset="-128"/>
            </a:endParaRP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Dr. C. Isis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Torres Pérez</a:t>
            </a:r>
          </a:p>
          <a:p>
            <a:pPr algn="ctr"/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Dr. C. Alejandro </a:t>
            </a:r>
            <a:r>
              <a:rPr lang="es-ES" sz="2400" b="1" dirty="0" smtClean="0">
                <a:latin typeface="Yu Gothic Light" panose="020B0300000000000000" pitchFamily="34" charset="-128"/>
                <a:ea typeface="Yu Gothic Light" panose="020B0300000000000000" pitchFamily="34" charset="-128"/>
              </a:rPr>
              <a:t>Rosete Suárez</a:t>
            </a:r>
          </a:p>
        </p:txBody>
      </p:sp>
      <p:cxnSp>
        <p:nvCxnSpPr>
          <p:cNvPr id="9" name="Conector recto 3">
            <a:extLst>
              <a:ext uri="{FF2B5EF4-FFF2-40B4-BE49-F238E27FC236}">
                <a16:creationId xmlns:a16="http://schemas.microsoft.com/office/drawing/2014/main" id="{1A59C829-CE93-1F05-E1F7-800E690F458E}"/>
              </a:ext>
            </a:extLst>
          </p:cNvPr>
          <p:cNvCxnSpPr>
            <a:cxnSpLocks/>
          </p:cNvCxnSpPr>
          <p:nvPr/>
        </p:nvCxnSpPr>
        <p:spPr>
          <a:xfrm flipV="1">
            <a:off x="645022" y="4350321"/>
            <a:ext cx="10881360" cy="28137"/>
          </a:xfrm>
          <a:prstGeom prst="line">
            <a:avLst/>
          </a:prstGeom>
          <a:ln w="19050">
            <a:solidFill>
              <a:srgbClr val="006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11474920" y="4259265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6536"/>
              </a:solidFill>
            </a:endParaRPr>
          </a:p>
        </p:txBody>
      </p:sp>
      <p:sp>
        <p:nvSpPr>
          <p:cNvPr id="6" name="Rectángulo 6">
            <a:extLst>
              <a:ext uri="{FF2B5EF4-FFF2-40B4-BE49-F238E27FC236}">
                <a16:creationId xmlns:a16="http://schemas.microsoft.com/office/drawing/2014/main" id="{34D31BF8-0A2C-08A1-04E2-7FB25DB88CB8}"/>
              </a:ext>
            </a:extLst>
          </p:cNvPr>
          <p:cNvSpPr/>
          <p:nvPr/>
        </p:nvSpPr>
        <p:spPr>
          <a:xfrm>
            <a:off x="2171725" y="41486"/>
            <a:ext cx="777648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just"/>
            <a:r>
              <a:rPr lang="es-ES" sz="4400" dirty="0" smtClean="0">
                <a:ln w="0"/>
                <a:solidFill>
                  <a:srgbClr val="006536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Jornada Científica Estudiantil</a:t>
            </a:r>
            <a:endParaRPr lang="es-ES" sz="4400" b="0" cap="none" spc="0" dirty="0" smtClean="0">
              <a:ln w="0"/>
              <a:solidFill>
                <a:srgbClr val="006536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8" name="Elipse 4">
            <a:extLst>
              <a:ext uri="{FF2B5EF4-FFF2-40B4-BE49-F238E27FC236}">
                <a16:creationId xmlns:a16="http://schemas.microsoft.com/office/drawing/2014/main" id="{30DD4C6A-AF91-785B-FB7B-3E4F85E498BF}"/>
              </a:ext>
            </a:extLst>
          </p:cNvPr>
          <p:cNvSpPr/>
          <p:nvPr/>
        </p:nvSpPr>
        <p:spPr>
          <a:xfrm>
            <a:off x="523609" y="4282569"/>
            <a:ext cx="182111" cy="182111"/>
          </a:xfrm>
          <a:prstGeom prst="ellipse">
            <a:avLst/>
          </a:prstGeom>
          <a:solidFill>
            <a:srgbClr val="00653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06536"/>
              </a:solidFill>
            </a:endParaRPr>
          </a:p>
        </p:txBody>
      </p:sp>
      <p:pic>
        <p:nvPicPr>
          <p:cNvPr id="10" name="Imagen 114" descr="Descripción: cujae-logo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482" y="810927"/>
            <a:ext cx="688975" cy="739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665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795</Words>
  <Application>Microsoft Office PowerPoint</Application>
  <PresentationFormat>Widescreen</PresentationFormat>
  <Paragraphs>110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Yu Gothic</vt:lpstr>
      <vt:lpstr>Yu Gothic Light</vt:lpstr>
      <vt:lpstr>Yu Gothic Medium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</dc:creator>
  <cp:lastModifiedBy>Nanda</cp:lastModifiedBy>
  <cp:revision>27</cp:revision>
  <dcterms:created xsi:type="dcterms:W3CDTF">2024-12-03T13:34:21Z</dcterms:created>
  <dcterms:modified xsi:type="dcterms:W3CDTF">2024-12-03T14:31:10Z</dcterms:modified>
</cp:coreProperties>
</file>